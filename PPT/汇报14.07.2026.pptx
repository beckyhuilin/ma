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8"/>
  </p:notesMasterIdLst>
  <p:handoutMasterIdLst>
    <p:handoutMasterId r:id="rId19"/>
  </p:handoutMasterIdLst>
  <p:sldIdLst>
    <p:sldId id="355" r:id="rId7"/>
    <p:sldId id="357" r:id="rId8"/>
    <p:sldId id="369" r:id="rId9"/>
    <p:sldId id="414" r:id="rId10"/>
    <p:sldId id="415" r:id="rId11"/>
    <p:sldId id="399" r:id="rId12"/>
    <p:sldId id="412" r:id="rId13"/>
    <p:sldId id="370" r:id="rId14"/>
    <p:sldId id="410" r:id="rId15"/>
    <p:sldId id="397" r:id="rId16"/>
    <p:sldId id="413" r:id="rId17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79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6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13/07/2026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13/07/2026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14</a:t>
            </a:r>
            <a:r>
              <a:rPr lang="de-DE" dirty="0"/>
              <a:t>. </a:t>
            </a:r>
            <a:r>
              <a:rPr lang="de-DE" dirty="0" err="1"/>
              <a:t>July</a:t>
            </a:r>
            <a:r>
              <a:rPr lang="de-DE" dirty="0"/>
              <a:t>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2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zh-CN" altLang="en-US" dirty="0"/>
              <a:t>数据预处理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特征提取准备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  <a:r>
              <a:rPr lang="zh-CN" altLang="en-US" dirty="0"/>
              <a:t>相关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目录</a:t>
            </a:r>
            <a:endParaRPr lang="de-DE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4699572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数据预处理</a:t>
            </a:r>
            <a:endParaRPr lang="de-DE" sz="3000" dirty="0">
              <a:solidFill>
                <a:schemeClr val="bg2"/>
              </a:solidFill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BBA0A3D-764A-0DFF-2CF0-13B0A01D3146}"/>
              </a:ext>
            </a:extLst>
          </p:cNvPr>
          <p:cNvGrpSpPr/>
          <p:nvPr/>
        </p:nvGrpSpPr>
        <p:grpSpPr>
          <a:xfrm>
            <a:off x="335486" y="2069579"/>
            <a:ext cx="5294960" cy="3665153"/>
            <a:chOff x="335486" y="2069579"/>
            <a:chExt cx="5294960" cy="3665153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4FE0774-904F-BE8D-C291-C26EC31946C2}"/>
                </a:ext>
              </a:extLst>
            </p:cNvPr>
            <p:cNvGrpSpPr/>
            <p:nvPr/>
          </p:nvGrpSpPr>
          <p:grpSpPr>
            <a:xfrm>
              <a:off x="335486" y="2069579"/>
              <a:ext cx="5278425" cy="2136395"/>
              <a:chOff x="300331" y="1932419"/>
              <a:chExt cx="4596809" cy="2136395"/>
            </a:xfrm>
          </p:grpSpPr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02508DB8-495A-C1B3-E714-7D81F634BE23}"/>
                  </a:ext>
                </a:extLst>
              </p:cNvPr>
              <p:cNvSpPr/>
              <p:nvPr/>
            </p:nvSpPr>
            <p:spPr>
              <a:xfrm>
                <a:off x="300331" y="3255071"/>
                <a:ext cx="1162050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预处理</a:t>
                </a:r>
              </a:p>
            </p:txBody>
          </p:sp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CCDFDD30-D4F5-BB39-B68F-8021C46AD698}"/>
                  </a:ext>
                </a:extLst>
              </p:cNvPr>
              <p:cNvSpPr/>
              <p:nvPr/>
            </p:nvSpPr>
            <p:spPr>
              <a:xfrm>
                <a:off x="1980807" y="3232903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de-DE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Scenario Segmentation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95E87DE6-36DB-8D05-31A3-CE19F988D045}"/>
                  </a:ext>
                </a:extLst>
              </p:cNvPr>
              <p:cNvSpPr/>
              <p:nvPr/>
            </p:nvSpPr>
            <p:spPr>
              <a:xfrm>
                <a:off x="1980807" y="1932419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熟悉原始数据结构</a:t>
                </a:r>
              </a:p>
            </p:txBody>
          </p:sp>
          <p:sp>
            <p:nvSpPr>
              <p:cNvPr id="18" name="圆角矩形 17">
                <a:extLst>
                  <a:ext uri="{FF2B5EF4-FFF2-40B4-BE49-F238E27FC236}">
                    <a16:creationId xmlns:a16="http://schemas.microsoft.com/office/drawing/2014/main" id="{78274763-26B9-5B8C-CD62-4CD3CFBBC071}"/>
                  </a:ext>
                </a:extLst>
              </p:cNvPr>
              <p:cNvSpPr/>
              <p:nvPr/>
            </p:nvSpPr>
            <p:spPr>
              <a:xfrm>
                <a:off x="3705451" y="2725978"/>
                <a:ext cx="1162050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挑战点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9" name="圆角矩形 18">
                <a:extLst>
                  <a:ext uri="{FF2B5EF4-FFF2-40B4-BE49-F238E27FC236}">
                    <a16:creationId xmlns:a16="http://schemas.microsoft.com/office/drawing/2014/main" id="{5443DDE3-DDF7-A4D0-B522-D756E73DF596}"/>
                  </a:ext>
                </a:extLst>
              </p:cNvPr>
              <p:cNvSpPr/>
              <p:nvPr/>
            </p:nvSpPr>
            <p:spPr>
              <a:xfrm>
                <a:off x="3735090" y="3565894"/>
                <a:ext cx="1162050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方法</a:t>
                </a:r>
              </a:p>
            </p:txBody>
          </p:sp>
          <p:cxnSp>
            <p:nvCxnSpPr>
              <p:cNvPr id="24" name="直线连接符 23">
                <a:extLst>
                  <a:ext uri="{FF2B5EF4-FFF2-40B4-BE49-F238E27FC236}">
                    <a16:creationId xmlns:a16="http://schemas.microsoft.com/office/drawing/2014/main" id="{92347B0E-C1F0-E758-F217-4BBF511802AD}"/>
                  </a:ext>
                </a:extLst>
              </p:cNvPr>
              <p:cNvCxnSpPr>
                <a:cxnSpLocks/>
                <a:stCxn id="9" idx="3"/>
                <a:endCxn id="12" idx="1"/>
              </p:cNvCxnSpPr>
              <p:nvPr/>
            </p:nvCxnSpPr>
            <p:spPr>
              <a:xfrm flipV="1">
                <a:off x="1462381" y="3484363"/>
                <a:ext cx="518426" cy="22169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直线连接符 24">
                <a:extLst>
                  <a:ext uri="{FF2B5EF4-FFF2-40B4-BE49-F238E27FC236}">
                    <a16:creationId xmlns:a16="http://schemas.microsoft.com/office/drawing/2014/main" id="{8FB2D8BC-7A40-2CB1-2BCB-22ADDE8F2A5A}"/>
                  </a:ext>
                </a:extLst>
              </p:cNvPr>
              <p:cNvCxnSpPr>
                <a:cxnSpLocks/>
                <a:stCxn id="9" idx="3"/>
                <a:endCxn id="13" idx="1"/>
              </p:cNvCxnSpPr>
              <p:nvPr/>
            </p:nvCxnSpPr>
            <p:spPr>
              <a:xfrm flipV="1">
                <a:off x="1462381" y="2183879"/>
                <a:ext cx="518426" cy="132265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线连接符 35">
                <a:extLst>
                  <a:ext uri="{FF2B5EF4-FFF2-40B4-BE49-F238E27FC236}">
                    <a16:creationId xmlns:a16="http://schemas.microsoft.com/office/drawing/2014/main" id="{FF8B5482-6324-5A46-D533-E9AA56CA0392}"/>
                  </a:ext>
                </a:extLst>
              </p:cNvPr>
              <p:cNvCxnSpPr>
                <a:cxnSpLocks/>
                <a:stCxn id="12" idx="3"/>
                <a:endCxn id="18" idx="1"/>
              </p:cNvCxnSpPr>
              <p:nvPr/>
            </p:nvCxnSpPr>
            <p:spPr>
              <a:xfrm flipV="1">
                <a:off x="3305915" y="2977438"/>
                <a:ext cx="399537" cy="506925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EB548AD2-0942-B56B-126C-241445D10044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3305915" y="3484363"/>
                <a:ext cx="429176" cy="33299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8CCCA316-C084-BD47-712E-D9E9E1201A7A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>
            <a:xfrm>
              <a:off x="1669845" y="3643692"/>
              <a:ext cx="597015" cy="143614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A757FE94-BCA1-D452-DA2B-31348FFBCF14}"/>
                </a:ext>
              </a:extLst>
            </p:cNvPr>
            <p:cNvSpPr/>
            <p:nvPr/>
          </p:nvSpPr>
          <p:spPr>
            <a:xfrm>
              <a:off x="2266860" y="4828377"/>
              <a:ext cx="151987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hlinkClick r:id="rId3" action="ppaction://hlinksldjump"/>
                </a:rPr>
                <a:t>提取 </a:t>
              </a:r>
              <a:r>
                <a:rPr kumimoji="1" lang="de-DE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hlinkClick r:id="rId3" action="ppaction://hlinksldjump"/>
                </a:rPr>
                <a:t>Interaction </a:t>
              </a:r>
              <a:r>
                <a:rPr kumimoji="1" lang="de-DE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hlinkClick r:id="rId3" action="ppaction://hlinksldjump"/>
                </a:rPr>
                <a:t>Window</a:t>
              </a:r>
              <a:endPara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714C3AE7-5FA2-300F-77D6-118726C7EEFB}"/>
                </a:ext>
              </a:extLst>
            </p:cNvPr>
            <p:cNvCxnSpPr>
              <a:cxnSpLocks/>
              <a:stCxn id="15" idx="3"/>
              <a:endCxn id="59" idx="1"/>
            </p:cNvCxnSpPr>
            <p:nvPr/>
          </p:nvCxnSpPr>
          <p:spPr>
            <a:xfrm flipV="1">
              <a:off x="3786738" y="4718893"/>
              <a:ext cx="492814" cy="36094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0991BC4-A6FC-3C77-BB0B-EE74E4D1C0D2}"/>
                </a:ext>
              </a:extLst>
            </p:cNvPr>
            <p:cNvCxnSpPr>
              <a:cxnSpLocks/>
              <a:stCxn id="15" idx="3"/>
              <a:endCxn id="58" idx="1"/>
            </p:cNvCxnSpPr>
            <p:nvPr/>
          </p:nvCxnSpPr>
          <p:spPr>
            <a:xfrm>
              <a:off x="3786738" y="5079837"/>
              <a:ext cx="509349" cy="40343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8" name="圆角矩形 57">
              <a:extLst>
                <a:ext uri="{FF2B5EF4-FFF2-40B4-BE49-F238E27FC236}">
                  <a16:creationId xmlns:a16="http://schemas.microsoft.com/office/drawing/2014/main" id="{376E14DD-339B-6FB3-E057-F748F9BCCB37}"/>
                </a:ext>
              </a:extLst>
            </p:cNvPr>
            <p:cNvSpPr/>
            <p:nvPr/>
          </p:nvSpPr>
          <p:spPr>
            <a:xfrm>
              <a:off x="4296087" y="5231812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方法</a:t>
              </a:r>
              <a:endPara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6942EF72-D0B0-11FB-6788-69F4D1689E38}"/>
                </a:ext>
              </a:extLst>
            </p:cNvPr>
            <p:cNvSpPr/>
            <p:nvPr/>
          </p:nvSpPr>
          <p:spPr>
            <a:xfrm>
              <a:off x="4279552" y="4467433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挑战点</a:t>
              </a:r>
              <a:endPara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3562058"/>
          </a:xfrm>
        </p:spPr>
        <p:txBody>
          <a:bodyPr/>
          <a:lstStyle/>
          <a:p>
            <a:endParaRPr dirty="0"/>
          </a:p>
          <a:p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特征提取准备</a:t>
            </a:r>
            <a:endParaRPr lang="de-DE" sz="3000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94828"/>
            <a:ext cx="8682366" cy="4941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 </a:t>
            </a:r>
            <a:r>
              <a:rPr lang="zh-CN" altLang="en-US" dirty="0"/>
              <a:t>难点</a:t>
            </a:r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CC55286-5A02-BA97-DE60-3A9519E64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20007"/>
              </p:ext>
            </p:extLst>
          </p:nvPr>
        </p:nvGraphicFramePr>
        <p:xfrm>
          <a:off x="353981" y="1726824"/>
          <a:ext cx="8473027" cy="307848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369494">
                  <a:extLst>
                    <a:ext uri="{9D8B030D-6E8A-4147-A177-3AD203B41FA5}">
                      <a16:colId xmlns:a16="http://schemas.microsoft.com/office/drawing/2014/main" val="4034851204"/>
                    </a:ext>
                  </a:extLst>
                </a:gridCol>
                <a:gridCol w="1306700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989704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4571247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1235882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</a:tblGrid>
              <a:tr h="478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方面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分类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主要内容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影响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422447">
                <a:tc rowSpan="2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数据缺失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整体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所有场景都缺少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initiator</a:t>
                      </a:r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NodeID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计算纵向位置 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）；</a:t>
                      </a: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Ego.TTC</a:t>
                      </a:r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/THW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等大部分值全缺失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无法直接统一使用横纵坐标，需额外构造坐标系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253468">
                <a:tc vMerge="1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场景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Ego.s</a:t>
                      </a:r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缺失 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320812"/>
                  </a:ext>
                </a:extLst>
              </a:tr>
              <a:tr h="253468">
                <a:tc rowSpan="3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数据错误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不可用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整体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所有场景的</a:t>
                      </a: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Initiator.LateralDistance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都错误（全是几千的值）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2534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场景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Ego.LaneIdx</a:t>
                      </a:r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错误，不可用；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initiator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LaneID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没用处</a:t>
                      </a:r>
                      <a:r>
                        <a:rPr lang="zh-CN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zh-CN" altLang="en-US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345288"/>
                  </a:ext>
                </a:extLst>
              </a:tr>
              <a:tr h="2534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场景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Ego.LaneIdx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错误；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initiator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LaneID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错误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481024"/>
                  </a:ext>
                </a:extLst>
              </a:tr>
              <a:tr h="434010">
                <a:tc rowSpan="2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道路几何不同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DLC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Interaction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窗口内为直线段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无法找到统一的特征值；且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MLC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场景同一坐标系难以构建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991575"/>
                  </a:ext>
                </a:extLst>
              </a:tr>
              <a:tr h="558801">
                <a:tc vMerge="1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MLC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Interaction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窗口内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initiator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大部分位置为曲线段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匝道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271633"/>
                  </a:ext>
                </a:extLst>
              </a:tr>
            </a:tbl>
          </a:graphicData>
        </a:graphic>
      </p:graphicFrame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299515" y="5486623"/>
            <a:ext cx="8682366" cy="109237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zh-CN" altLang="en-US" dirty="0"/>
              <a:t>方案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分开处理：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根据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全局坐标构建坐标系；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？（其它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场景的建模相关论文选取的基本都为变道车在直线段内的）</a:t>
            </a:r>
            <a:endParaRPr lang="zh-CN" altLang="zh-CN" sz="1400" kern="100" dirty="0">
              <a:latin typeface="+mn-ea"/>
              <a:cs typeface="Times New Roman" panose="02020603050405020304" pitchFamily="18" charset="0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5E2226B-E500-D7E4-A17A-C2A37F440FF4}"/>
              </a:ext>
            </a:extLst>
          </p:cNvPr>
          <p:cNvSpPr txBox="1">
            <a:spLocks/>
          </p:cNvSpPr>
          <p:nvPr/>
        </p:nvSpPr>
        <p:spPr>
          <a:xfrm>
            <a:off x="249311" y="4827828"/>
            <a:ext cx="8682366" cy="65879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总：数据质量不太好，没有一个场景是所有关键数据都可用的，如要使用，需要全部重建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计算；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场景有效数据太少，更难选取特征值。（建议三方实验时确保这些数据可用，且设计好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区域）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265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4699572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相关</a:t>
            </a:r>
            <a:endParaRPr lang="de-DE" sz="3000" dirty="0">
              <a:solidFill>
                <a:schemeClr val="bg2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CE32FC6-6A6D-7516-F326-E4FCC88BA2A5}"/>
              </a:ext>
            </a:extLst>
          </p:cNvPr>
          <p:cNvGrpSpPr/>
          <p:nvPr/>
        </p:nvGrpSpPr>
        <p:grpSpPr>
          <a:xfrm>
            <a:off x="335486" y="1608989"/>
            <a:ext cx="4650045" cy="2797347"/>
            <a:chOff x="335486" y="2187148"/>
            <a:chExt cx="4650045" cy="279734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BFE4028-797B-C814-FE08-41E446B19C6C}"/>
                </a:ext>
              </a:extLst>
            </p:cNvPr>
            <p:cNvGrpSpPr/>
            <p:nvPr/>
          </p:nvGrpSpPr>
          <p:grpSpPr>
            <a:xfrm>
              <a:off x="335486" y="2187148"/>
              <a:ext cx="4650045" cy="1708004"/>
              <a:chOff x="300331" y="2049988"/>
              <a:chExt cx="4049573" cy="1708004"/>
            </a:xfrm>
          </p:grpSpPr>
          <p:sp>
            <p:nvSpPr>
              <p:cNvPr id="23" name="圆角矩形 22">
                <a:extLst>
                  <a:ext uri="{FF2B5EF4-FFF2-40B4-BE49-F238E27FC236}">
                    <a16:creationId xmlns:a16="http://schemas.microsoft.com/office/drawing/2014/main" id="{A4A655CC-E7A0-89B3-EB1C-5A0D7611A05A}"/>
                  </a:ext>
                </a:extLst>
              </p:cNvPr>
              <p:cNvSpPr/>
              <p:nvPr/>
            </p:nvSpPr>
            <p:spPr>
              <a:xfrm>
                <a:off x="300331" y="3255071"/>
                <a:ext cx="1565360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Eye-tracking</a:t>
                </a:r>
                <a:r>
                  <a:rPr kumimoji="1"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相关</a:t>
                </a:r>
              </a:p>
            </p:txBody>
          </p:sp>
          <p:sp>
            <p:nvSpPr>
              <p:cNvPr id="26" name="圆角矩形 25">
                <a:extLst>
                  <a:ext uri="{FF2B5EF4-FFF2-40B4-BE49-F238E27FC236}">
                    <a16:creationId xmlns:a16="http://schemas.microsoft.com/office/drawing/2014/main" id="{7758FB64-0036-1731-D348-6D73D9ADA80A}"/>
                  </a:ext>
                </a:extLst>
              </p:cNvPr>
              <p:cNvSpPr/>
              <p:nvPr/>
            </p:nvSpPr>
            <p:spPr>
              <a:xfrm>
                <a:off x="3024796" y="3232903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de-DE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Boris</a:t>
                </a:r>
                <a:r>
                  <a:rPr kumimoji="1" lang="zh-CN" altLang="de-DE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安装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7" name="圆角矩形 26">
                <a:extLst>
                  <a:ext uri="{FF2B5EF4-FFF2-40B4-BE49-F238E27FC236}">
                    <a16:creationId xmlns:a16="http://schemas.microsoft.com/office/drawing/2014/main" id="{775A401B-C10E-D65D-3658-571EAFAD6C50}"/>
                  </a:ext>
                </a:extLst>
              </p:cNvPr>
              <p:cNvSpPr/>
              <p:nvPr/>
            </p:nvSpPr>
            <p:spPr>
              <a:xfrm>
                <a:off x="3024796" y="2049988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重新命名视频</a:t>
                </a:r>
              </a:p>
            </p:txBody>
          </p: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2EADD003-43B8-F673-773B-0137F17656A6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 flipV="1">
                <a:off x="1865691" y="3484363"/>
                <a:ext cx="1159105" cy="22169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579E5639-B914-E348-D327-5AF6EAF99B21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>
              <a:xfrm flipV="1">
                <a:off x="1865691" y="2301448"/>
                <a:ext cx="1159105" cy="1205084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599D8D6F-84B9-E18D-B5D4-FA1B3C7C644F}"/>
                </a:ext>
              </a:extLst>
            </p:cNvPr>
            <p:cNvCxnSpPr>
              <a:cxnSpLocks/>
              <a:stCxn id="23" idx="3"/>
              <a:endCxn id="16" idx="1"/>
            </p:cNvCxnSpPr>
            <p:nvPr/>
          </p:nvCxnSpPr>
          <p:spPr>
            <a:xfrm>
              <a:off x="2132958" y="3643692"/>
              <a:ext cx="1332695" cy="108934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5322E1C3-DD93-08DD-9995-2C2C05ACA8CC}"/>
                </a:ext>
              </a:extLst>
            </p:cNvPr>
            <p:cNvSpPr/>
            <p:nvPr/>
          </p:nvSpPr>
          <p:spPr>
            <a:xfrm>
              <a:off x="3465653" y="4481575"/>
              <a:ext cx="151987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Boris PPT</a:t>
              </a: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学习</a:t>
              </a:r>
              <a:endPara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1" y="943611"/>
            <a:ext cx="8682366" cy="5177489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de-DE" altLang="zh-CN" dirty="0"/>
              <a:t>Interaction </a:t>
            </a:r>
            <a:r>
              <a:rPr lang="de-DE" altLang="zh-CN" dirty="0" err="1"/>
              <a:t>Window</a:t>
            </a:r>
            <a:r>
              <a:rPr lang="zh-CN" altLang="de-DE" dirty="0"/>
              <a:t>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是否需要这么长？是其他场景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倍，为什么这么设计？若要缩短，选取什么区域？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可否把曲线区域去除？若要去，实验中哪个参数可用？（没找到相关）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FF0000"/>
                </a:solidFill>
              </a:rPr>
              <a:t>交互结束点需自己定义（</a:t>
            </a:r>
            <a:r>
              <a:rPr lang="en-US" altLang="zh-CN" sz="1400" dirty="0">
                <a:solidFill>
                  <a:srgbClr val="FF0000"/>
                </a:solidFill>
              </a:rPr>
              <a:t>AV</a:t>
            </a:r>
            <a:r>
              <a:rPr lang="zh-CN" altLang="en-US" sz="1400" dirty="0">
                <a:solidFill>
                  <a:srgbClr val="FF0000"/>
                </a:solidFill>
              </a:rPr>
              <a:t>变道结束）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特征提取准备有关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若要包含曲线段，无法寻找有意义的特征，若以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构建统一坐标系，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因为在曲线段，坐标会变化特别大，会干扰训练，那该选取什么特征？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可否先只用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数据？</a:t>
            </a:r>
            <a:r>
              <a:rPr lang="zh-CN" altLang="en-US" sz="1400" dirty="0">
                <a:solidFill>
                  <a:srgbClr val="FF0000"/>
                </a:solidFill>
              </a:rPr>
              <a:t>先处理</a:t>
            </a:r>
            <a:r>
              <a:rPr lang="en-US" altLang="zh-CN" sz="1400" dirty="0">
                <a:solidFill>
                  <a:srgbClr val="FF0000"/>
                </a:solidFill>
              </a:rPr>
              <a:t>DLCMLC</a:t>
            </a:r>
            <a:r>
              <a:rPr lang="zh-CN" altLang="en-US" sz="1400" dirty="0">
                <a:solidFill>
                  <a:srgbClr val="FF0000"/>
                </a:solidFill>
              </a:rPr>
              <a:t>待定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  <a:r>
              <a:rPr lang="zh-CN" altLang="en-US" dirty="0"/>
              <a:t>相关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标一下顺序视频，记一下撞车视频的编号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时间如何和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driving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数据对齐？未找到精确秒数，</a:t>
            </a:r>
            <a:r>
              <a:rPr lang="zh-CN" altLang="en-US" sz="1400" dirty="0">
                <a:solidFill>
                  <a:srgbClr val="FF0000"/>
                </a:solidFill>
              </a:rPr>
              <a:t>看软件里精确度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想要标注什么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参数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</a:t>
            </a:r>
            <a:r>
              <a:rPr lang="zh-CN" altLang="en-US" sz="1400" dirty="0">
                <a:solidFill>
                  <a:srgbClr val="FF0000"/>
                </a:solidFill>
              </a:rPr>
              <a:t>有没有看交互车辆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行为编码表在哪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？可否演示下怎么标？</a:t>
            </a:r>
            <a:r>
              <a:rPr lang="zh-CN" altLang="en-US" sz="1400" dirty="0">
                <a:solidFill>
                  <a:srgbClr val="FF0000"/>
                </a:solidFill>
              </a:rPr>
              <a:t>暂时不需要编码表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（想法是暂时先不处理这个数据，费时，压缩建模时间）</a:t>
            </a:r>
            <a:endParaRPr lang="zh-CN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43300" y="1130281"/>
            <a:ext cx="8682366" cy="1677466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特征提取准备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进行特征提取？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下一步计划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140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bg2"/>
                </a:solidFill>
              </a:rPr>
              <a:t>数据预处理</a:t>
            </a:r>
            <a:endParaRPr lang="de-DE" sz="3000" dirty="0">
              <a:solidFill>
                <a:schemeClr val="bg2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903A9A0-62E5-8107-47FA-75D5EE762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60335"/>
              </p:ext>
            </p:extLst>
          </p:nvPr>
        </p:nvGraphicFramePr>
        <p:xfrm>
          <a:off x="315910" y="1178406"/>
          <a:ext cx="7849143" cy="106892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1179403">
                  <a:extLst>
                    <a:ext uri="{9D8B030D-6E8A-4147-A177-3AD203B41FA5}">
                      <a16:colId xmlns:a16="http://schemas.microsoft.com/office/drawing/2014/main" val="4034851204"/>
                    </a:ext>
                  </a:extLst>
                </a:gridCol>
                <a:gridCol w="2043953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1699008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1614347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  <a:gridCol w="1312432">
                  <a:extLst>
                    <a:ext uri="{9D8B030D-6E8A-4147-A177-3AD203B41FA5}">
                      <a16:colId xmlns:a16="http://schemas.microsoft.com/office/drawing/2014/main" val="1321018873"/>
                    </a:ext>
                  </a:extLst>
                </a:gridCol>
              </a:tblGrid>
              <a:tr h="46539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受试者</a:t>
                      </a:r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Initiator</a:t>
                      </a:r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type/Condition</a:t>
                      </a:r>
                      <a:endParaRPr lang="zh-CN" altLang="en-US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文件数</a:t>
                      </a:r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/.</a:t>
                      </a:r>
                      <a:r>
                        <a:rPr lang="en-US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asc</a:t>
                      </a:r>
                      <a:endParaRPr lang="zh-CN" altLang="en-US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每个文件场景数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总</a:t>
                      </a:r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event</a:t>
                      </a:r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550760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4(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HV1</a:t>
                      </a:r>
                      <a:r>
                        <a:rPr lang="zh-CN" alt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AV0</a:t>
                      </a:r>
                      <a:r>
                        <a:rPr lang="zh-CN" alt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AV1</a:t>
                      </a:r>
                      <a:r>
                        <a:rPr lang="zh-CN" alt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AV2)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zh-CN" altLang="en-US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496</a:t>
                      </a:r>
                      <a:endParaRPr lang="zh-CN" altLang="en-US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</a:tbl>
          </a:graphicData>
        </a:graphic>
      </p:graphicFrame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315910" y="2582563"/>
            <a:ext cx="8682366" cy="329111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Scenario Segmentation</a:t>
            </a:r>
            <a:r>
              <a:rPr lang="zh-CN" altLang="en-US" dirty="0"/>
              <a:t>挑战点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不同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condition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的数据格式并不完全一致：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AV0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中存在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JPUMultiDriverDemux.driverNumber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（区分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AV1 / AV2 / HV1 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中没有该变量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的变量名前缀不同（文件内部和文件名称）：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AV0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HV1 → HV1~HV4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AV1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AV2 → AV1~AV4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de-DE" altLang="zh-CN" dirty="0"/>
              <a:t>Scenario Segmentation</a:t>
            </a:r>
            <a:r>
              <a:rPr lang="zh-CN" altLang="de-DE" dirty="0"/>
              <a:t>方法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划分：解析文件名进行分组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划分：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若存在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JPUMultiDriverDemux.driverNumber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，就用此参数进行划分；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若无，则对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.active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状态进行判断，若为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，则数据属于该场景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486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bg2"/>
                </a:solidFill>
              </a:rPr>
              <a:t>数据预处理</a:t>
            </a:r>
            <a:endParaRPr lang="de-DE" sz="3000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230817" y="1194827"/>
            <a:ext cx="8682366" cy="308671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 </a:t>
            </a:r>
            <a:r>
              <a:rPr lang="zh-CN" altLang="en-US" dirty="0"/>
              <a:t>提取</a:t>
            </a:r>
            <a:r>
              <a:rPr lang="de-DE" altLang="zh-CN" dirty="0"/>
              <a:t>Interaction </a:t>
            </a:r>
            <a:r>
              <a:rPr lang="de-DE" altLang="zh-CN" dirty="0" err="1"/>
              <a:t>Window</a:t>
            </a:r>
            <a:r>
              <a:rPr lang="zh-CN" altLang="en-US" dirty="0"/>
              <a:t>挑战点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控制状态会发生跳变：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Ego.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StateLatAndLong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变为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后再有几帧变为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再变为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de-DE" dirty="0">
                <a:latin typeface="+mj-lt"/>
              </a:rPr>
              <a:t>方法</a:t>
            </a:r>
            <a:endParaRPr lang="en-US" altLang="zh-C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保留最后一个连续的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zero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segment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Interaction </a:t>
            </a:r>
            <a:r>
              <a:rPr lang="de-DE" altLang="zh-CN" dirty="0" err="1"/>
              <a:t>Window</a:t>
            </a:r>
            <a:r>
              <a:rPr lang="zh-CN" altLang="de-DE" dirty="0"/>
              <a:t>提取</a:t>
            </a:r>
            <a:r>
              <a:rPr lang="zh-CN" altLang="de-DE" dirty="0">
                <a:latin typeface="+mj-lt"/>
              </a:rPr>
              <a:t>结果</a:t>
            </a:r>
            <a:endParaRPr lang="en-US" altLang="zh-C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～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21s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左右；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2: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39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～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52s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；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～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27s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～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28s</a:t>
            </a:r>
            <a:endParaRPr lang="en-US" altLang="zh-CN" dirty="0"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7980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15392</TotalTime>
  <Words>761</Words>
  <Application>Microsoft Macintosh PowerPoint</Application>
  <PresentationFormat>全屏显示(4:3)</PresentationFormat>
  <Paragraphs>119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汇报2</vt:lpstr>
      <vt:lpstr>目录</vt:lpstr>
      <vt:lpstr>数据预处理</vt:lpstr>
      <vt:lpstr>特征提取准备</vt:lpstr>
      <vt:lpstr>Eye-tracking相关</vt:lpstr>
      <vt:lpstr>疑问点</vt:lpstr>
      <vt:lpstr>下一步计划</vt:lpstr>
      <vt:lpstr>谢谢</vt:lpstr>
      <vt:lpstr>Backup</vt:lpstr>
      <vt:lpstr>数据预处理</vt:lpstr>
      <vt:lpstr>数据预处理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21</cp:revision>
  <cp:lastPrinted>2015-07-30T14:04:45Z</cp:lastPrinted>
  <dcterms:created xsi:type="dcterms:W3CDTF">2025-11-09T09:25:35Z</dcterms:created>
  <dcterms:modified xsi:type="dcterms:W3CDTF">2026-07-20T19:15:09Z</dcterms:modified>
</cp:coreProperties>
</file>