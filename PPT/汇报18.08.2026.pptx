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19"/>
  </p:notesMasterIdLst>
  <p:handoutMasterIdLst>
    <p:handoutMasterId r:id="rId20"/>
  </p:handoutMasterIdLst>
  <p:sldIdLst>
    <p:sldId id="355" r:id="rId7"/>
    <p:sldId id="357" r:id="rId8"/>
    <p:sldId id="369" r:id="rId9"/>
    <p:sldId id="397" r:id="rId10"/>
    <p:sldId id="420" r:id="rId11"/>
    <p:sldId id="414" r:id="rId12"/>
    <p:sldId id="415" r:id="rId13"/>
    <p:sldId id="399" r:id="rId14"/>
    <p:sldId id="370" r:id="rId15"/>
    <p:sldId id="410" r:id="rId16"/>
    <p:sldId id="419" r:id="rId17"/>
    <p:sldId id="421" r:id="rId18"/>
  </p:sldIdLst>
  <p:sldSz cx="9144000" cy="6858000" type="screen4x3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868" autoAdjust="0"/>
    <p:restoredTop sz="88272" autoAdjust="0"/>
  </p:normalViewPr>
  <p:slideViewPr>
    <p:cSldViewPr snapToGrid="0">
      <p:cViewPr varScale="1">
        <p:scale>
          <a:sx n="119" d="100"/>
          <a:sy n="119" d="100"/>
        </p:scale>
        <p:origin x="33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1518" y="-90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17/08/2026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17/08/2026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95650" y="500063"/>
            <a:ext cx="333375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7589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4797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94489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426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2353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3525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9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7829538" cy="38468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6563283"/>
            <a:ext cx="1115376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42532" y="0"/>
            <a:ext cx="9185031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20401" y="314325"/>
            <a:ext cx="7699650" cy="3484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Musterverfahren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TUM School </a:t>
            </a:r>
            <a:r>
              <a:rPr lang="de-DE" sz="800" dirty="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 Mustertechnik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7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8" y="324650"/>
            <a:ext cx="599723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de-DE" dirty="0"/>
              <a:t>Fang</a:t>
            </a:r>
          </a:p>
          <a:p>
            <a:r>
              <a:rPr lang="en-US" altLang="zh-CN" dirty="0"/>
              <a:t>18</a:t>
            </a:r>
            <a:r>
              <a:rPr lang="de-DE" dirty="0"/>
              <a:t>. August 2026</a:t>
            </a:r>
            <a:endParaRPr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</a:t>
            </a:r>
            <a:r>
              <a:rPr lang="zh-CN" altLang="en-US" dirty="0"/>
              <a:t> 汇报</a:t>
            </a:r>
            <a:r>
              <a:rPr lang="en-US" altLang="zh-CN" dirty="0"/>
              <a:t>5</a:t>
            </a:r>
            <a:endParaRPr lang="de-DE" dirty="0"/>
          </a:p>
        </p:txBody>
      </p:sp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01" y="3051360"/>
            <a:ext cx="3892489" cy="33974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9088" y="1978720"/>
            <a:ext cx="8508999" cy="1450280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 </a:t>
            </a:r>
            <a:r>
              <a:rPr lang="en-US" altLang="zh-CN" dirty="0"/>
              <a:t>Manipulation</a:t>
            </a:r>
            <a:r>
              <a:rPr lang="zh-CN" altLang="en-US" dirty="0"/>
              <a:t> </a:t>
            </a:r>
            <a:r>
              <a:rPr lang="en-US" altLang="zh-CN" dirty="0"/>
              <a:t>check</a:t>
            </a:r>
          </a:p>
          <a:p>
            <a:r>
              <a:rPr lang="en-US" altLang="zh-CN" dirty="0">
                <a:solidFill>
                  <a:schemeClr val="bg2"/>
                </a:solidFill>
              </a:rPr>
              <a:t>2.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/>
              <a:t>Eye-tracking</a:t>
            </a:r>
          </a:p>
          <a:p>
            <a:r>
              <a:rPr lang="en-US" altLang="zh-CN" dirty="0">
                <a:solidFill>
                  <a:schemeClr val="bg2"/>
                </a:solidFill>
              </a:rPr>
              <a:t>3.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/>
              <a:t>HMM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目录</a:t>
            </a:r>
            <a:endParaRPr lang="de-DE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18009" y="1208728"/>
            <a:ext cx="8508999" cy="4440543"/>
          </a:xfrm>
        </p:spPr>
        <p:txBody>
          <a:bodyPr/>
          <a:lstStyle/>
          <a:p>
            <a:endParaRPr dirty="0"/>
          </a:p>
          <a:p>
            <a:endParaRPr sz="22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Manipulation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check</a:t>
            </a:r>
            <a:endParaRPr lang="de-DE" dirty="0">
              <a:solidFill>
                <a:schemeClr val="bg2"/>
              </a:solidFill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DCFC5C3-F14C-DFEF-A26E-8E5E30081A47}"/>
              </a:ext>
            </a:extLst>
          </p:cNvPr>
          <p:cNvGrpSpPr/>
          <p:nvPr/>
        </p:nvGrpSpPr>
        <p:grpSpPr>
          <a:xfrm>
            <a:off x="316992" y="1454859"/>
            <a:ext cx="6423806" cy="3754856"/>
            <a:chOff x="318009" y="2069579"/>
            <a:chExt cx="6423806" cy="3754856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0BBA0A3D-764A-0DFF-2CF0-13B0A01D3146}"/>
                </a:ext>
              </a:extLst>
            </p:cNvPr>
            <p:cNvGrpSpPr/>
            <p:nvPr/>
          </p:nvGrpSpPr>
          <p:grpSpPr>
            <a:xfrm>
              <a:off x="318009" y="2069579"/>
              <a:ext cx="6365483" cy="2084245"/>
              <a:chOff x="318009" y="2069579"/>
              <a:chExt cx="6365483" cy="2084245"/>
            </a:xfrm>
          </p:grpSpPr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F4FE0774-904F-BE8D-C291-C26EC31946C2}"/>
                  </a:ext>
                </a:extLst>
              </p:cNvPr>
              <p:cNvGrpSpPr/>
              <p:nvPr/>
            </p:nvGrpSpPr>
            <p:grpSpPr>
              <a:xfrm>
                <a:off x="318009" y="2069579"/>
                <a:ext cx="3468730" cy="2084245"/>
                <a:chOff x="285111" y="1932419"/>
                <a:chExt cx="3020804" cy="2084245"/>
              </a:xfrm>
            </p:grpSpPr>
            <p:sp>
              <p:nvSpPr>
                <p:cNvPr id="9" name="圆角矩形 8">
                  <a:extLst>
                    <a:ext uri="{FF2B5EF4-FFF2-40B4-BE49-F238E27FC236}">
                      <a16:creationId xmlns:a16="http://schemas.microsoft.com/office/drawing/2014/main" id="{02508DB8-495A-C1B3-E714-7D81F634BE23}"/>
                    </a:ext>
                  </a:extLst>
                </p:cNvPr>
                <p:cNvSpPr/>
                <p:nvPr/>
              </p:nvSpPr>
              <p:spPr>
                <a:xfrm>
                  <a:off x="285111" y="3513743"/>
                  <a:ext cx="1162050" cy="502921"/>
                </a:xfrm>
                <a:prstGeom prst="round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kumimoji="1" lang="en-US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Metrics</a:t>
                  </a:r>
                  <a:r>
                    <a: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（</a:t>
                  </a:r>
                  <a:r>
                    <a:rPr kumimoji="1" lang="en-US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Initial</a:t>
                  </a:r>
                  <a:r>
                    <a: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）</a:t>
                  </a:r>
                </a:p>
              </p:txBody>
            </p:sp>
            <p:sp>
              <p:nvSpPr>
                <p:cNvPr id="13" name="圆角矩形 12">
                  <a:extLst>
                    <a:ext uri="{FF2B5EF4-FFF2-40B4-BE49-F238E27FC236}">
                      <a16:creationId xmlns:a16="http://schemas.microsoft.com/office/drawing/2014/main" id="{95E87DE6-36DB-8D05-31A3-CE19F988D045}"/>
                    </a:ext>
                  </a:extLst>
                </p:cNvPr>
                <p:cNvSpPr/>
                <p:nvPr/>
              </p:nvSpPr>
              <p:spPr>
                <a:xfrm>
                  <a:off x="1980807" y="1932419"/>
                  <a:ext cx="1325108" cy="502920"/>
                </a:xfrm>
                <a:prstGeom prst="round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kumimoji="1" lang="en-US" altLang="zh-CN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Scenario</a:t>
                  </a:r>
                  <a:r>
                    <a:rPr kumimoji="1" lang="zh-CN" altLang="en-US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</a:t>
                  </a:r>
                  <a:r>
                    <a:rPr kumimoji="1" lang="en-US" altLang="zh-CN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1</a:t>
                  </a:r>
                  <a:endPara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cxnSp>
              <p:nvCxnSpPr>
                <p:cNvPr id="25" name="直线连接符 24">
                  <a:extLst>
                    <a:ext uri="{FF2B5EF4-FFF2-40B4-BE49-F238E27FC236}">
                      <a16:creationId xmlns:a16="http://schemas.microsoft.com/office/drawing/2014/main" id="{8FB2D8BC-7A40-2CB1-2BCB-22ADDE8F2A5A}"/>
                    </a:ext>
                  </a:extLst>
                </p:cNvPr>
                <p:cNvCxnSpPr>
                  <a:cxnSpLocks/>
                  <a:stCxn id="9" idx="3"/>
                  <a:endCxn id="13" idx="1"/>
                </p:cNvCxnSpPr>
                <p:nvPr/>
              </p:nvCxnSpPr>
              <p:spPr>
                <a:xfrm flipV="1">
                  <a:off x="1447161" y="2183879"/>
                  <a:ext cx="533646" cy="1581325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" name="直线连接符 7">
                <a:extLst>
                  <a:ext uri="{FF2B5EF4-FFF2-40B4-BE49-F238E27FC236}">
                    <a16:creationId xmlns:a16="http://schemas.microsoft.com/office/drawing/2014/main" id="{8CCCA316-C084-BD47-712E-D9E9E1201A7A}"/>
                  </a:ext>
                </a:extLst>
              </p:cNvPr>
              <p:cNvCxnSpPr>
                <a:cxnSpLocks/>
                <a:stCxn id="9" idx="3"/>
                <a:endCxn id="15" idx="1"/>
              </p:cNvCxnSpPr>
              <p:nvPr/>
            </p:nvCxnSpPr>
            <p:spPr>
              <a:xfrm flipV="1">
                <a:off x="1652368" y="3437473"/>
                <a:ext cx="614493" cy="464891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5" name="圆角矩形 14">
                <a:extLst>
                  <a:ext uri="{FF2B5EF4-FFF2-40B4-BE49-F238E27FC236}">
                    <a16:creationId xmlns:a16="http://schemas.microsoft.com/office/drawing/2014/main" id="{A757FE94-BCA1-D452-DA2B-31348FFBCF14}"/>
                  </a:ext>
                </a:extLst>
              </p:cNvPr>
              <p:cNvSpPr/>
              <p:nvPr/>
            </p:nvSpPr>
            <p:spPr>
              <a:xfrm>
                <a:off x="2266861" y="3186013"/>
                <a:ext cx="1519878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Scenario</a:t>
                </a: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2</a:t>
                </a:r>
                <a:endParaRPr kumimoji="1"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46" name="直线连接符 45">
                <a:extLst>
                  <a:ext uri="{FF2B5EF4-FFF2-40B4-BE49-F238E27FC236}">
                    <a16:creationId xmlns:a16="http://schemas.microsoft.com/office/drawing/2014/main" id="{714C3AE7-5FA2-300F-77D6-118726C7EEFB}"/>
                  </a:ext>
                </a:extLst>
              </p:cNvPr>
              <p:cNvCxnSpPr>
                <a:cxnSpLocks/>
                <a:stCxn id="13" idx="3"/>
                <a:endCxn id="59" idx="1"/>
              </p:cNvCxnSpPr>
              <p:nvPr/>
            </p:nvCxnSpPr>
            <p:spPr>
              <a:xfrm>
                <a:off x="3786739" y="2321039"/>
                <a:ext cx="603425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7" name="直线连接符 46">
                <a:extLst>
                  <a:ext uri="{FF2B5EF4-FFF2-40B4-BE49-F238E27FC236}">
                    <a16:creationId xmlns:a16="http://schemas.microsoft.com/office/drawing/2014/main" id="{30991BC4-A6FC-3C77-BB0B-EE74E4D1C0D2}"/>
                  </a:ext>
                </a:extLst>
              </p:cNvPr>
              <p:cNvCxnSpPr>
                <a:cxnSpLocks/>
                <a:stCxn id="15" idx="3"/>
                <a:endCxn id="31" idx="1"/>
              </p:cNvCxnSpPr>
              <p:nvPr/>
            </p:nvCxnSpPr>
            <p:spPr>
              <a:xfrm>
                <a:off x="3786739" y="3437473"/>
                <a:ext cx="661748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59" name="圆角矩形 58">
                <a:extLst>
                  <a:ext uri="{FF2B5EF4-FFF2-40B4-BE49-F238E27FC236}">
                    <a16:creationId xmlns:a16="http://schemas.microsoft.com/office/drawing/2014/main" id="{6942EF72-D0B0-11FB-6788-69F4D1689E38}"/>
                  </a:ext>
                </a:extLst>
              </p:cNvPr>
              <p:cNvSpPr/>
              <p:nvPr/>
            </p:nvSpPr>
            <p:spPr>
              <a:xfrm>
                <a:off x="4390164" y="2069579"/>
                <a:ext cx="2293328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delta_distance</a:t>
                </a:r>
                <a:r>
                  <a: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; </a:t>
                </a:r>
                <a:r>
                  <a:rPr kumimoji="1"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ego_v</a:t>
                </a:r>
                <a:r>
                  <a: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; </a:t>
                </a:r>
                <a:r>
                  <a:rPr kumimoji="1"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initator_v</a:t>
                </a:r>
                <a:r>
                  <a: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; </a:t>
                </a:r>
                <a:r>
                  <a:rPr kumimoji="1"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delta_v</a:t>
                </a:r>
                <a:r>
                  <a: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; THW</a:t>
                </a:r>
              </a:p>
            </p:txBody>
          </p:sp>
        </p:grpSp>
        <p:sp>
          <p:nvSpPr>
            <p:cNvPr id="10" name="圆角矩形 9">
              <a:extLst>
                <a:ext uri="{FF2B5EF4-FFF2-40B4-BE49-F238E27FC236}">
                  <a16:creationId xmlns:a16="http://schemas.microsoft.com/office/drawing/2014/main" id="{A00AABB7-4C49-D6DE-F7F1-2E3266F69941}"/>
                </a:ext>
              </a:extLst>
            </p:cNvPr>
            <p:cNvSpPr/>
            <p:nvPr/>
          </p:nvSpPr>
          <p:spPr>
            <a:xfrm>
              <a:off x="2288931" y="4205081"/>
              <a:ext cx="1519878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Scenario</a:t>
              </a:r>
              <a:r>
                <a:rPr kumimoji="1"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</a:t>
              </a:r>
              <a:endPara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FC7ABC8E-E16C-2D86-03FA-A8962C31EF99}"/>
                </a:ext>
              </a:extLst>
            </p:cNvPr>
            <p:cNvSpPr/>
            <p:nvPr/>
          </p:nvSpPr>
          <p:spPr>
            <a:xfrm>
              <a:off x="2280236" y="5321515"/>
              <a:ext cx="1519878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Scenario</a:t>
              </a:r>
              <a:r>
                <a:rPr kumimoji="1"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</a:t>
              </a:r>
              <a:endPara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F2FF770E-9AB2-759A-D3CA-1E9CE0E38481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1652368" y="3902364"/>
              <a:ext cx="636563" cy="55417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B8B60C74-9C8A-F4F0-9EEA-7226EC192ABC}"/>
                </a:ext>
              </a:extLst>
            </p:cNvPr>
            <p:cNvCxnSpPr>
              <a:cxnSpLocks/>
              <a:stCxn id="9" idx="3"/>
              <a:endCxn id="11" idx="1"/>
            </p:cNvCxnSpPr>
            <p:nvPr/>
          </p:nvCxnSpPr>
          <p:spPr>
            <a:xfrm>
              <a:off x="1652368" y="3902364"/>
              <a:ext cx="627868" cy="167061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1" name="圆角矩形 30">
              <a:extLst>
                <a:ext uri="{FF2B5EF4-FFF2-40B4-BE49-F238E27FC236}">
                  <a16:creationId xmlns:a16="http://schemas.microsoft.com/office/drawing/2014/main" id="{71FDBC75-4083-8EB5-E939-2F491BE2AC9B}"/>
                </a:ext>
              </a:extLst>
            </p:cNvPr>
            <p:cNvSpPr/>
            <p:nvPr/>
          </p:nvSpPr>
          <p:spPr>
            <a:xfrm>
              <a:off x="4448487" y="3186013"/>
              <a:ext cx="2293328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delta_distance</a:t>
              </a: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; </a:t>
              </a:r>
              <a:r>
                <a:rPr kumimoji="1"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ego_v</a:t>
              </a: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; </a:t>
              </a:r>
              <a:r>
                <a:rPr kumimoji="1"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initator_v</a:t>
              </a: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; </a:t>
              </a:r>
              <a:r>
                <a:rPr kumimoji="1"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delta_v</a:t>
              </a: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; THW</a:t>
              </a:r>
            </a:p>
          </p:txBody>
        </p:sp>
        <p:sp>
          <p:nvSpPr>
            <p:cNvPr id="32" name="圆角矩形 31">
              <a:extLst>
                <a:ext uri="{FF2B5EF4-FFF2-40B4-BE49-F238E27FC236}">
                  <a16:creationId xmlns:a16="http://schemas.microsoft.com/office/drawing/2014/main" id="{730B233F-8616-CB75-E522-F1097C134A48}"/>
                </a:ext>
              </a:extLst>
            </p:cNvPr>
            <p:cNvSpPr/>
            <p:nvPr/>
          </p:nvSpPr>
          <p:spPr>
            <a:xfrm>
              <a:off x="4448487" y="4202337"/>
              <a:ext cx="2293328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delta_distance</a:t>
              </a: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; </a:t>
              </a:r>
              <a:r>
                <a:rPr kumimoji="1"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ego_v</a:t>
              </a: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; </a:t>
              </a:r>
              <a:r>
                <a:rPr kumimoji="1"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initator_v</a:t>
              </a: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; </a:t>
              </a:r>
              <a:r>
                <a:rPr kumimoji="1"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delta_v</a:t>
              </a: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; THW</a:t>
              </a:r>
            </a:p>
          </p:txBody>
        </p:sp>
        <p:sp>
          <p:nvSpPr>
            <p:cNvPr id="33" name="圆角矩形 32">
              <a:extLst>
                <a:ext uri="{FF2B5EF4-FFF2-40B4-BE49-F238E27FC236}">
                  <a16:creationId xmlns:a16="http://schemas.microsoft.com/office/drawing/2014/main" id="{D17DD9FB-5592-0DFE-52D7-D4E54C598121}"/>
                </a:ext>
              </a:extLst>
            </p:cNvPr>
            <p:cNvSpPr/>
            <p:nvPr/>
          </p:nvSpPr>
          <p:spPr>
            <a:xfrm>
              <a:off x="4448487" y="5321515"/>
              <a:ext cx="2293328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delta_distance</a:t>
              </a: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; </a:t>
              </a:r>
              <a:r>
                <a:rPr kumimoji="1"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ego_v</a:t>
              </a: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; </a:t>
              </a:r>
              <a:r>
                <a:rPr kumimoji="1"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initator_v</a:t>
              </a: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; </a:t>
              </a:r>
              <a:r>
                <a:rPr kumimoji="1"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delta_v</a:t>
              </a: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; THW</a:t>
              </a:r>
            </a:p>
          </p:txBody>
        </p: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BE8D0ADD-3131-F19A-F2CD-F79B52279A48}"/>
                </a:ext>
              </a:extLst>
            </p:cNvPr>
            <p:cNvCxnSpPr>
              <a:cxnSpLocks/>
              <a:stCxn id="10" idx="3"/>
              <a:endCxn id="32" idx="1"/>
            </p:cNvCxnSpPr>
            <p:nvPr/>
          </p:nvCxnSpPr>
          <p:spPr>
            <a:xfrm flipV="1">
              <a:off x="3808809" y="4453797"/>
              <a:ext cx="639678" cy="2744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1874C6CC-77B6-CE89-E656-05B892FAA119}"/>
                </a:ext>
              </a:extLst>
            </p:cNvPr>
            <p:cNvCxnSpPr>
              <a:cxnSpLocks/>
              <a:stCxn id="11" idx="3"/>
              <a:endCxn id="33" idx="1"/>
            </p:cNvCxnSpPr>
            <p:nvPr/>
          </p:nvCxnSpPr>
          <p:spPr>
            <a:xfrm>
              <a:off x="3800114" y="5572975"/>
              <a:ext cx="648373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5" name="Inhaltsplatzhalter 2">
            <a:extLst>
              <a:ext uri="{FF2B5EF4-FFF2-40B4-BE49-F238E27FC236}">
                <a16:creationId xmlns:a16="http://schemas.microsoft.com/office/drawing/2014/main" id="{04149218-3D0B-ADD8-19BE-B1C75EF2192C}"/>
              </a:ext>
            </a:extLst>
          </p:cNvPr>
          <p:cNvSpPr txBox="1">
            <a:spLocks/>
          </p:cNvSpPr>
          <p:nvPr/>
        </p:nvSpPr>
        <p:spPr>
          <a:xfrm>
            <a:off x="316992" y="5176256"/>
            <a:ext cx="7266131" cy="163704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de-DE" altLang="zh-CN" sz="1600" dirty="0"/>
              <a:t>Statistical </a:t>
            </a:r>
            <a:r>
              <a:rPr lang="de-DE" altLang="zh-CN" sz="1600" dirty="0" err="1"/>
              <a:t>analysis</a:t>
            </a:r>
            <a:endParaRPr lang="de-DE" altLang="zh-CN" sz="1600" dirty="0"/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scenarios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× 4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conditions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(HV1 / AV0 / AV1 / AV2)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5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metrics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per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scenario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in 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08671"/>
            <a:ext cx="7930322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Manipulation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check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0BA3B38-ACAA-4B2F-9D0D-FF8718C2BD3A}"/>
              </a:ext>
            </a:extLst>
          </p:cNvPr>
          <p:cNvSpPr txBox="1">
            <a:spLocks/>
          </p:cNvSpPr>
          <p:nvPr/>
        </p:nvSpPr>
        <p:spPr>
          <a:xfrm>
            <a:off x="318010" y="1161354"/>
            <a:ext cx="8682366" cy="49532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Statistical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analysis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workflow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FCFBBF0-1A9E-1DB5-D8D1-33AF314B8824}"/>
              </a:ext>
            </a:extLst>
          </p:cNvPr>
          <p:cNvSpPr/>
          <p:nvPr/>
        </p:nvSpPr>
        <p:spPr>
          <a:xfrm>
            <a:off x="2103145" y="1925714"/>
            <a:ext cx="1481265" cy="49532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Descriptive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statistics</a:t>
            </a:r>
            <a:endParaRPr kumimoji="1"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CC74E87-45FA-A2F7-D05A-23104F010FB6}"/>
              </a:ext>
            </a:extLst>
          </p:cNvPr>
          <p:cNvSpPr/>
          <p:nvPr/>
        </p:nvSpPr>
        <p:spPr>
          <a:xfrm>
            <a:off x="3827688" y="1920112"/>
            <a:ext cx="1467285" cy="50271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Repeated-measures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ANOVA</a:t>
            </a:r>
            <a:endParaRPr kumimoji="1"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7009736-10C0-43FB-9F4C-E3B45E166D46}"/>
              </a:ext>
            </a:extLst>
          </p:cNvPr>
          <p:cNvSpPr/>
          <p:nvPr/>
        </p:nvSpPr>
        <p:spPr>
          <a:xfrm>
            <a:off x="7264187" y="1920112"/>
            <a:ext cx="1765542" cy="50271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Holm-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corrected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pairwise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comparisons</a:t>
            </a:r>
            <a:endParaRPr kumimoji="1"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690871A-D102-13F1-C630-A34191789208}"/>
              </a:ext>
            </a:extLst>
          </p:cNvPr>
          <p:cNvSpPr/>
          <p:nvPr/>
        </p:nvSpPr>
        <p:spPr>
          <a:xfrm>
            <a:off x="5553624" y="1920112"/>
            <a:ext cx="1467285" cy="50271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Sphericity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check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CCF7630B-9A95-C729-CC95-032BFBA12A63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3584410" y="2171472"/>
            <a:ext cx="243278" cy="1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1DD613AC-5DEB-C536-8C6F-DCB0993E89B4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5294973" y="2171472"/>
            <a:ext cx="2586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9CD47104-FE0A-BD56-AC8E-227A21BFF19F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7020909" y="2171472"/>
            <a:ext cx="243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4C79E8E9-C47D-3192-DD53-0A81CDF2A6F3}"/>
              </a:ext>
            </a:extLst>
          </p:cNvPr>
          <p:cNvSpPr/>
          <p:nvPr/>
        </p:nvSpPr>
        <p:spPr>
          <a:xfrm>
            <a:off x="3750512" y="2912644"/>
            <a:ext cx="1642975" cy="234358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Purpose:</a:t>
            </a:r>
          </a:p>
          <a:p>
            <a:pPr>
              <a:lnSpc>
                <a:spcPct val="114000"/>
              </a:lnSpc>
            </a:pP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Test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whether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there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is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an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overall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condition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effect</a:t>
            </a:r>
            <a:endParaRPr kumimoji="1" lang="de-DE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6BEF7D9D-F2A6-993B-E6E4-AE4E1548480C}"/>
              </a:ext>
            </a:extLst>
          </p:cNvPr>
          <p:cNvCxnSpPr>
            <a:cxnSpLocks/>
            <a:stCxn id="9" idx="2"/>
            <a:endCxn id="28" idx="0"/>
          </p:cNvCxnSpPr>
          <p:nvPr/>
        </p:nvCxnSpPr>
        <p:spPr>
          <a:xfrm>
            <a:off x="4561331" y="2422831"/>
            <a:ext cx="10669" cy="489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699BC869-1FA6-2819-E20F-0F5A9AD43613}"/>
              </a:ext>
            </a:extLst>
          </p:cNvPr>
          <p:cNvSpPr/>
          <p:nvPr/>
        </p:nvSpPr>
        <p:spPr>
          <a:xfrm>
            <a:off x="5425383" y="2892468"/>
            <a:ext cx="1723765" cy="234358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Purpose:</a:t>
            </a:r>
          </a:p>
          <a:p>
            <a:pPr>
              <a:lnSpc>
                <a:spcPct val="114000"/>
              </a:lnSpc>
            </a:pP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Validate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ANOVA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assumption</a:t>
            </a:r>
            <a:endParaRPr kumimoji="1" lang="de-DE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14000"/>
              </a:lnSpc>
            </a:pPr>
            <a:endParaRPr kumimoji="1" lang="de-DE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14000"/>
              </a:lnSpc>
            </a:pP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If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violated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（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Mauchly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 &lt; 0.05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use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Greenhouse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-Geisser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corrected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p-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value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876583DC-A8EC-FB39-D7E7-B4D057DF4CE2}"/>
              </a:ext>
            </a:extLst>
          </p:cNvPr>
          <p:cNvCxnSpPr>
            <a:cxnSpLocks/>
            <a:stCxn id="11" idx="2"/>
            <a:endCxn id="36" idx="0"/>
          </p:cNvCxnSpPr>
          <p:nvPr/>
        </p:nvCxnSpPr>
        <p:spPr>
          <a:xfrm flipH="1">
            <a:off x="6287266" y="2422831"/>
            <a:ext cx="1" cy="46963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9E66BED2-AEE2-3D9C-0BEF-C884FBBC9599}"/>
              </a:ext>
            </a:extLst>
          </p:cNvPr>
          <p:cNvCxnSpPr>
            <a:cxnSpLocks/>
            <a:stCxn id="10" idx="2"/>
            <a:endCxn id="50" idx="0"/>
          </p:cNvCxnSpPr>
          <p:nvPr/>
        </p:nvCxnSpPr>
        <p:spPr>
          <a:xfrm>
            <a:off x="8146958" y="2422831"/>
            <a:ext cx="0" cy="46963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4928706D-1531-EB19-5FB6-EB67CB0D7CD0}"/>
              </a:ext>
            </a:extLst>
          </p:cNvPr>
          <p:cNvSpPr/>
          <p:nvPr/>
        </p:nvSpPr>
        <p:spPr>
          <a:xfrm>
            <a:off x="7285076" y="2892468"/>
            <a:ext cx="1723763" cy="234358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Purpose:</a:t>
            </a:r>
          </a:p>
          <a:p>
            <a:pPr>
              <a:lnSpc>
                <a:spcPct val="114000"/>
              </a:lnSpc>
            </a:pP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Identify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which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condition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pairs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differ</a:t>
            </a:r>
            <a:endParaRPr kumimoji="1" lang="de-DE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14000"/>
              </a:lnSpc>
            </a:pPr>
            <a:endParaRPr kumimoji="1" lang="de-DE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14000"/>
              </a:lnSpc>
            </a:pP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Pair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kumimoji="1" lang="de-DE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14000"/>
              </a:lnSpc>
            </a:pPr>
            <a:endParaRPr kumimoji="1" lang="de-DE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14000"/>
              </a:lnSpc>
            </a:pP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+mn-cs"/>
              </a:rPr>
              <a:t>Significant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+mn-cs"/>
              </a:rPr>
              <a:t>：</a:t>
            </a:r>
            <a:endParaRPr kumimoji="1" lang="de-DE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14000"/>
              </a:lnSpc>
            </a:pP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Holm-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adjusted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p-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value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&lt; 0.05</a:t>
            </a:r>
            <a:endParaRPr kumimoji="1"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722B59E-10E0-761C-0B5C-5AFF76B2DDA1}"/>
              </a:ext>
            </a:extLst>
          </p:cNvPr>
          <p:cNvSpPr txBox="1"/>
          <p:nvPr/>
        </p:nvSpPr>
        <p:spPr>
          <a:xfrm>
            <a:off x="4954335" y="1656678"/>
            <a:ext cx="681277" cy="192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+mn-cs"/>
              </a:rPr>
              <a:t>significant</a:t>
            </a:r>
            <a:endParaRPr kumimoji="1" lang="zh-CN" altLang="en-US" sz="1200" dirty="0" err="1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1949B5CA-522A-19A7-E9A8-B21B73D3557B}"/>
              </a:ext>
            </a:extLst>
          </p:cNvPr>
          <p:cNvSpPr/>
          <p:nvPr/>
        </p:nvSpPr>
        <p:spPr>
          <a:xfrm>
            <a:off x="335051" y="1925714"/>
            <a:ext cx="1511614" cy="49532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preparation</a:t>
            </a:r>
            <a:endParaRPr kumimoji="1"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F6B1C8A9-2D38-81C5-FBB4-ACC01C82BB4B}"/>
              </a:ext>
            </a:extLst>
          </p:cNvPr>
          <p:cNvCxnSpPr>
            <a:cxnSpLocks/>
            <a:stCxn id="70" idx="3"/>
            <a:endCxn id="6" idx="1"/>
          </p:cNvCxnSpPr>
          <p:nvPr/>
        </p:nvCxnSpPr>
        <p:spPr>
          <a:xfrm>
            <a:off x="1846665" y="2173376"/>
            <a:ext cx="256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83BC78C8-C67C-6F58-221F-E7E7585EBB4F}"/>
              </a:ext>
            </a:extLst>
          </p:cNvPr>
          <p:cNvSpPr/>
          <p:nvPr/>
        </p:nvSpPr>
        <p:spPr>
          <a:xfrm>
            <a:off x="311773" y="2937736"/>
            <a:ext cx="1577447" cy="234358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kumimoji="1"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delta_distance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endParaRPr kumimoji="1" lang="de-DE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14000"/>
              </a:lnSpc>
            </a:pP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S1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Euclidean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distance</a:t>
            </a:r>
            <a:endParaRPr kumimoji="1" lang="de-DE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14000"/>
              </a:lnSpc>
            </a:pP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S2-4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kumimoji="1" lang="de-DE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Longitudinal 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distance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raw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60Hz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</a:t>
            </a:r>
            <a:r>
              <a:rPr kumimoji="1" lang="de-DE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recalculated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  <a:endParaRPr kumimoji="1" lang="de-DE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7417242A-9852-564F-F40E-47500F08A424}"/>
              </a:ext>
            </a:extLst>
          </p:cNvPr>
          <p:cNvCxnSpPr>
            <a:cxnSpLocks/>
            <a:stCxn id="70" idx="2"/>
            <a:endCxn id="129" idx="0"/>
          </p:cNvCxnSpPr>
          <p:nvPr/>
        </p:nvCxnSpPr>
        <p:spPr>
          <a:xfrm>
            <a:off x="1090858" y="2421038"/>
            <a:ext cx="9639" cy="5166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486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08671"/>
            <a:ext cx="7930322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Manipulation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check</a:t>
            </a: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Results</a:t>
            </a:r>
            <a:r>
              <a:rPr lang="zh-CN" altLang="en-US" dirty="0">
                <a:solidFill>
                  <a:schemeClr val="bg2"/>
                </a:solidFill>
              </a:rPr>
              <a:t>）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0BA3B38-ACAA-4B2F-9D0D-FF8718C2BD3A}"/>
              </a:ext>
            </a:extLst>
          </p:cNvPr>
          <p:cNvSpPr txBox="1">
            <a:spLocks/>
          </p:cNvSpPr>
          <p:nvPr/>
        </p:nvSpPr>
        <p:spPr>
          <a:xfrm>
            <a:off x="318010" y="1161354"/>
            <a:ext cx="8682366" cy="84141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Descriptive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statistics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Raincloud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plots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full</a:t>
            </a:r>
            <a:r>
              <a:rPr lang="de-DE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results</a:t>
            </a:r>
            <a:r>
              <a:rPr lang="de-DE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available</a:t>
            </a:r>
            <a:r>
              <a:rPr lang="de-DE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in </a:t>
            </a:r>
            <a:r>
              <a:rPr lang="de-DE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shared</a:t>
            </a:r>
            <a:r>
              <a:rPr lang="de-DE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folder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hlinkClick r:id="rId2" action="ppaction://hlinksldjump"/>
              </a:rPr>
              <a:t>Example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hlinkClick r:id="rId2" action="ppaction://hlinksldjump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hlinkClick r:id="rId2" action="ppaction://hlinksldjump"/>
              </a:rPr>
              <a:t>Scenario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hlinkClick r:id="rId2" action="ppaction://hlinksldjump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hlinkClick r:id="rId2" action="ppaction://hlinksldjump"/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hlinkClick r:id="rId2" action="ppaction://hlinksldjump"/>
              </a:rPr>
              <a:t>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3A179F6-5836-00A0-3BE4-0FED79D9E54F}"/>
              </a:ext>
            </a:extLst>
          </p:cNvPr>
          <p:cNvSpPr txBox="1">
            <a:spLocks/>
          </p:cNvSpPr>
          <p:nvPr/>
        </p:nvSpPr>
        <p:spPr>
          <a:xfrm>
            <a:off x="318010" y="2028999"/>
            <a:ext cx="8682366" cy="2725881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Repeated-measures</a:t>
            </a:r>
            <a:r>
              <a:rPr lang="de-DE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ANOVA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+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Holm-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corrected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pairwise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endParaRPr lang="de-DE" altLang="zh-CN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Repeated-measures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ANOVA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significant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total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，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delta_distance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and THW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showed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significant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condition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effects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across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all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four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scenarios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Holm-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corrected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pairwise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36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pairs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significant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total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66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 main differences were between HV1/AV0 and AV1/AV2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AV1 and AV2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generally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showed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smaller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initial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distance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shorter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THW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than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HV1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and AV0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Ego speed showed no significant condition effect in any scenario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S1 showed the largest number of significant condition effects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操作按钮: 前进或下一个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F6108B6-CC26-A412-9A70-4C37B11BE63C}"/>
              </a:ext>
            </a:extLst>
          </p:cNvPr>
          <p:cNvSpPr/>
          <p:nvPr/>
        </p:nvSpPr>
        <p:spPr>
          <a:xfrm>
            <a:off x="6981714" y="2188036"/>
            <a:ext cx="247425" cy="225911"/>
          </a:xfrm>
          <a:prstGeom prst="actionButtonForwardNex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9000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31549"/>
            <a:ext cx="7825530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9B3463C-5B93-D7A5-25AB-229E2600140D}"/>
              </a:ext>
            </a:extLst>
          </p:cNvPr>
          <p:cNvSpPr txBox="1">
            <a:spLocks/>
          </p:cNvSpPr>
          <p:nvPr/>
        </p:nvSpPr>
        <p:spPr>
          <a:xfrm>
            <a:off x="230817" y="1139722"/>
            <a:ext cx="8682366" cy="186611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Drafting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Drafted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 initial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set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of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aligning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eye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-tracking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annotations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with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driving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target_TimeMS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 and 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matched_TimeMS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Target ASC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ASC first-frame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+ (Eye-tracking Time -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RunN_Start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Time) × 1000</a:t>
            </a: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Target ASC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ASC Scenario Start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+ (Eye-tracking Time -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Scenario_N_Start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Time) × 1000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Missing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Run Start Marker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14C7963-280E-1AC2-F5AE-2552EB5DA673}"/>
              </a:ext>
            </a:extLst>
          </p:cNvPr>
          <p:cNvSpPr txBox="1">
            <a:spLocks/>
          </p:cNvSpPr>
          <p:nvPr/>
        </p:nvSpPr>
        <p:spPr>
          <a:xfrm>
            <a:off x="318010" y="3126230"/>
            <a:ext cx="8682366" cy="84187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 </a:t>
            </a:r>
            <a:r>
              <a:rPr lang="de-DE" altLang="zh-CN" dirty="0"/>
              <a:t>Data </a:t>
            </a:r>
            <a:r>
              <a:rPr lang="de-DE" altLang="zh-CN" dirty="0" err="1"/>
              <a:t>synchronization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Completed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496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interaction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events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391A4C45-0E37-240E-0780-2E95CC913377}"/>
              </a:ext>
            </a:extLst>
          </p:cNvPr>
          <p:cNvSpPr txBox="1">
            <a:spLocks/>
          </p:cNvSpPr>
          <p:nvPr/>
        </p:nvSpPr>
        <p:spPr>
          <a:xfrm>
            <a:off x="318010" y="4088494"/>
            <a:ext cx="8682366" cy="15984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3. </a:t>
            </a:r>
            <a:r>
              <a:rPr lang="de-DE" altLang="zh-CN" dirty="0"/>
              <a:t>Data </a:t>
            </a:r>
            <a:r>
              <a:rPr lang="de-DE" altLang="zh-CN" dirty="0" err="1"/>
              <a:t>sharing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Shared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drafted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eye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-tracking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dataset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with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collaborator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next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step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discuss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method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12658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HMM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training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1334C66-98DF-0938-3F62-A967EC5DA190}"/>
              </a:ext>
            </a:extLst>
          </p:cNvPr>
          <p:cNvSpPr txBox="1">
            <a:spLocks/>
          </p:cNvSpPr>
          <p:nvPr/>
        </p:nvSpPr>
        <p:spPr>
          <a:xfrm>
            <a:off x="318010" y="1161354"/>
            <a:ext cx="8682366" cy="5156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Overall </a:t>
            </a:r>
            <a:r>
              <a:rPr lang="de-DE" altLang="zh-CN" dirty="0" err="1"/>
              <a:t>training</a:t>
            </a:r>
            <a:r>
              <a:rPr lang="de-DE" altLang="zh-CN" dirty="0"/>
              <a:t> plan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501A50D9-DAC7-D626-F25F-B9F5AE7222CD}"/>
              </a:ext>
            </a:extLst>
          </p:cNvPr>
          <p:cNvSpPr txBox="1">
            <a:spLocks/>
          </p:cNvSpPr>
          <p:nvPr/>
        </p:nvSpPr>
        <p:spPr>
          <a:xfrm>
            <a:off x="318010" y="3555509"/>
            <a:ext cx="8682366" cy="152798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en-US" altLang="zh-CN" dirty="0"/>
              <a:t>Pooled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  <a:r>
              <a:rPr lang="zh-CN" altLang="en-US" dirty="0"/>
              <a:t>（</a:t>
            </a:r>
            <a:r>
              <a:rPr lang="de-DE" altLang="zh-CN" b="1" dirty="0"/>
              <a:t> </a:t>
            </a:r>
            <a:r>
              <a:rPr lang="en-US" altLang="zh-CN" dirty="0"/>
              <a:t>establish </a:t>
            </a:r>
            <a:r>
              <a:rPr lang="de-DE" altLang="zh-CN" dirty="0" err="1"/>
              <a:t>selection</a:t>
            </a:r>
            <a:r>
              <a:rPr lang="de-DE" altLang="zh-CN" dirty="0"/>
              <a:t> </a:t>
            </a:r>
            <a:r>
              <a:rPr lang="de-DE" altLang="zh-CN" dirty="0" err="1"/>
              <a:t>criteria</a:t>
            </a:r>
            <a:r>
              <a:rPr lang="zh-CN" altLang="en-US" dirty="0"/>
              <a:t> </a:t>
            </a:r>
            <a:r>
              <a:rPr lang="zh-CN" altLang="en-US" b="1" dirty="0"/>
              <a:t>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Valid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converged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+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numerically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valid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+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empty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state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+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successful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Viterbi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decoding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➡️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healthy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deterministic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boundary-state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Pairwise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stability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ARI, NMI,</a:t>
            </a:r>
            <a:r>
              <a:rPr lang="de-DE" altLang="zh-CN" sz="1600" dirty="0"/>
              <a:t>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terminal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agreement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D5B9BB2D-D490-712A-864A-76CC1DEEDA0D}"/>
              </a:ext>
            </a:extLst>
          </p:cNvPr>
          <p:cNvGrpSpPr/>
          <p:nvPr/>
        </p:nvGrpSpPr>
        <p:grpSpPr>
          <a:xfrm>
            <a:off x="475816" y="1892935"/>
            <a:ext cx="8192367" cy="1400851"/>
            <a:chOff x="220113" y="1832534"/>
            <a:chExt cx="8192367" cy="1400851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44D47FF-E28C-04B2-806B-CFB80A3A897E}"/>
                </a:ext>
              </a:extLst>
            </p:cNvPr>
            <p:cNvGrpSpPr/>
            <p:nvPr/>
          </p:nvGrpSpPr>
          <p:grpSpPr>
            <a:xfrm>
              <a:off x="1223618" y="1832534"/>
              <a:ext cx="7188862" cy="525090"/>
              <a:chOff x="1341961" y="2788428"/>
              <a:chExt cx="7620536" cy="525090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ABFE4028-797B-C814-FE08-41E446B19C6C}"/>
                  </a:ext>
                </a:extLst>
              </p:cNvPr>
              <p:cNvGrpSpPr/>
              <p:nvPr/>
            </p:nvGrpSpPr>
            <p:grpSpPr>
              <a:xfrm>
                <a:off x="1341961" y="2788428"/>
                <a:ext cx="7620536" cy="525090"/>
                <a:chOff x="1176838" y="3229427"/>
                <a:chExt cx="6636475" cy="525090"/>
              </a:xfrm>
            </p:grpSpPr>
            <p:sp>
              <p:nvSpPr>
                <p:cNvPr id="23" name="圆角矩形 22">
                  <a:extLst>
                    <a:ext uri="{FF2B5EF4-FFF2-40B4-BE49-F238E27FC236}">
                      <a16:creationId xmlns:a16="http://schemas.microsoft.com/office/drawing/2014/main" id="{A4A655CC-E7A0-89B3-EB1C-5A0D7611A05A}"/>
                    </a:ext>
                  </a:extLst>
                </p:cNvPr>
                <p:cNvSpPr/>
                <p:nvPr/>
              </p:nvSpPr>
              <p:spPr>
                <a:xfrm>
                  <a:off x="1176838" y="3240511"/>
                  <a:ext cx="1565360" cy="502921"/>
                </a:xfrm>
                <a:prstGeom prst="round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kumimoji="1" lang="en-US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GMM-HMM</a:t>
                  </a:r>
                  <a:r>
                    <a: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</a:t>
                  </a:r>
                  <a:r>
                    <a:rPr kumimoji="1" lang="en-US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modeling</a:t>
                  </a:r>
                  <a:endPara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26" name="圆角矩形 25">
                  <a:extLst>
                    <a:ext uri="{FF2B5EF4-FFF2-40B4-BE49-F238E27FC236}">
                      <a16:creationId xmlns:a16="http://schemas.microsoft.com/office/drawing/2014/main" id="{7758FB64-0036-1731-D348-6D73D9ADA80A}"/>
                    </a:ext>
                  </a:extLst>
                </p:cNvPr>
                <p:cNvSpPr/>
                <p:nvPr/>
              </p:nvSpPr>
              <p:spPr>
                <a:xfrm>
                  <a:off x="6042646" y="3229427"/>
                  <a:ext cx="1770667" cy="525089"/>
                </a:xfrm>
                <a:prstGeom prst="round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lang="de-DE" altLang="zh-CN" sz="1200" b="1" i="0" u="none" strike="noStrike" dirty="0">
                      <a:solidFill>
                        <a:srgbClr val="24292E"/>
                      </a:solidFill>
                      <a:effectLst/>
                      <a:latin typeface="-apple-system"/>
                    </a:rPr>
                    <a:t> </a:t>
                  </a:r>
                  <a:r>
                    <a:rPr kumimoji="1" lang="de-DE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Interaction </a:t>
                  </a:r>
                  <a:r>
                    <a:rPr kumimoji="1" lang="de-DE" altLang="zh-CN" sz="14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chain</a:t>
                  </a:r>
                  <a:r>
                    <a:rPr kumimoji="1" lang="de-DE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and </a:t>
                  </a:r>
                  <a:r>
                    <a:rPr kumimoji="1" lang="de-DE" altLang="zh-CN" sz="14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pattern</a:t>
                  </a:r>
                  <a:r>
                    <a:rPr kumimoji="1" lang="de-DE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</a:t>
                  </a:r>
                  <a:r>
                    <a:rPr kumimoji="1" lang="de-DE" altLang="zh-CN" sz="14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identification</a:t>
                  </a:r>
                  <a:endPara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27" name="圆角矩形 26">
                  <a:extLst>
                    <a:ext uri="{FF2B5EF4-FFF2-40B4-BE49-F238E27FC236}">
                      <a16:creationId xmlns:a16="http://schemas.microsoft.com/office/drawing/2014/main" id="{775A401B-C10E-D65D-3658-571EAFAD6C50}"/>
                    </a:ext>
                  </a:extLst>
                </p:cNvPr>
                <p:cNvSpPr/>
                <p:nvPr/>
              </p:nvSpPr>
              <p:spPr>
                <a:xfrm>
                  <a:off x="3507089" y="3229428"/>
                  <a:ext cx="1770667" cy="525089"/>
                </a:xfrm>
                <a:prstGeom prst="round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kumimoji="1" lang="de-DE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Primitive </a:t>
                  </a:r>
                  <a:r>
                    <a:rPr kumimoji="1" lang="de-DE" altLang="zh-CN" sz="14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extraction</a:t>
                  </a:r>
                  <a:r>
                    <a:rPr kumimoji="1" lang="de-DE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and </a:t>
                  </a:r>
                  <a:r>
                    <a:rPr kumimoji="1" lang="de-DE" altLang="zh-CN" sz="14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clustering</a:t>
                  </a:r>
                  <a:endPara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cxnSp>
            <p:nvCxnSpPr>
              <p:cNvPr id="6" name="直线箭头连接符 5">
                <a:extLst>
                  <a:ext uri="{FF2B5EF4-FFF2-40B4-BE49-F238E27FC236}">
                    <a16:creationId xmlns:a16="http://schemas.microsoft.com/office/drawing/2014/main" id="{BAFAAB2D-8FD1-1608-9CB0-AD67239446F2}"/>
                  </a:ext>
                </a:extLst>
              </p:cNvPr>
              <p:cNvCxnSpPr>
                <a:cxnSpLocks/>
                <a:stCxn id="23" idx="3"/>
                <a:endCxn id="27" idx="1"/>
              </p:cNvCxnSpPr>
              <p:nvPr/>
            </p:nvCxnSpPr>
            <p:spPr>
              <a:xfrm>
                <a:off x="3139434" y="3050973"/>
                <a:ext cx="878309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线箭头连接符 7">
                <a:extLst>
                  <a:ext uri="{FF2B5EF4-FFF2-40B4-BE49-F238E27FC236}">
                    <a16:creationId xmlns:a16="http://schemas.microsoft.com/office/drawing/2014/main" id="{66F4175D-D5BA-138E-D818-B4FF742ED477}"/>
                  </a:ext>
                </a:extLst>
              </p:cNvPr>
              <p:cNvCxnSpPr>
                <a:cxnSpLocks/>
                <a:stCxn id="27" idx="3"/>
                <a:endCxn id="26" idx="1"/>
              </p:cNvCxnSpPr>
              <p:nvPr/>
            </p:nvCxnSpPr>
            <p:spPr>
              <a:xfrm flipV="1">
                <a:off x="6050965" y="3050973"/>
                <a:ext cx="87831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圆角矩形 31">
              <a:extLst>
                <a:ext uri="{FF2B5EF4-FFF2-40B4-BE49-F238E27FC236}">
                  <a16:creationId xmlns:a16="http://schemas.microsoft.com/office/drawing/2014/main" id="{AD314C6A-8139-A02B-E38B-B4C66A08CF03}"/>
                </a:ext>
              </a:extLst>
            </p:cNvPr>
            <p:cNvSpPr/>
            <p:nvPr/>
          </p:nvSpPr>
          <p:spPr>
            <a:xfrm>
              <a:off x="220113" y="2730464"/>
              <a:ext cx="1695653" cy="50292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Pooled</a:t>
              </a:r>
              <a:r>
                <a:rPr kumimoji="1"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kumimoji="1"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training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3" name="圆角矩形 32">
              <a:extLst>
                <a:ext uri="{FF2B5EF4-FFF2-40B4-BE49-F238E27FC236}">
                  <a16:creationId xmlns:a16="http://schemas.microsoft.com/office/drawing/2014/main" id="{9B371ABD-4268-4756-8327-78E81D7014C9}"/>
                </a:ext>
              </a:extLst>
            </p:cNvPr>
            <p:cNvSpPr/>
            <p:nvPr/>
          </p:nvSpPr>
          <p:spPr>
            <a:xfrm>
              <a:off x="2268143" y="2726977"/>
              <a:ext cx="1695653" cy="502921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Subject-level</a:t>
              </a:r>
            </a:p>
            <a:p>
              <a:pPr algn="ctr">
                <a:lnSpc>
                  <a:spcPct val="114000"/>
                </a:lnSpc>
              </a:pPr>
              <a:r>
                <a:rPr kumimoji="1"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Cross-validation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35" name="肘形连接符 34">
              <a:extLst>
                <a:ext uri="{FF2B5EF4-FFF2-40B4-BE49-F238E27FC236}">
                  <a16:creationId xmlns:a16="http://schemas.microsoft.com/office/drawing/2014/main" id="{5F1817FD-BA8B-C49B-432E-963DFE62B7D0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1915766" y="2524006"/>
              <a:ext cx="1200204" cy="20297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肘形连接符 40">
              <a:extLst>
                <a:ext uri="{FF2B5EF4-FFF2-40B4-BE49-F238E27FC236}">
                  <a16:creationId xmlns:a16="http://schemas.microsoft.com/office/drawing/2014/main" id="{5C644AF4-EE18-0EFE-DA32-E45C27663C2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 rot="10800000" flipV="1">
              <a:off x="1067940" y="2524006"/>
              <a:ext cx="847826" cy="20645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99A3988B-DF8D-9C1E-17FF-53F528504D89}"/>
                </a:ext>
              </a:extLst>
            </p:cNvPr>
            <p:cNvCxnSpPr>
              <a:stCxn id="23" idx="2"/>
            </p:cNvCxnSpPr>
            <p:nvPr/>
          </p:nvCxnSpPr>
          <p:spPr>
            <a:xfrm flipH="1">
              <a:off x="2071444" y="2346539"/>
              <a:ext cx="1" cy="1774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线箭头连接符 57">
              <a:extLst>
                <a:ext uri="{FF2B5EF4-FFF2-40B4-BE49-F238E27FC236}">
                  <a16:creationId xmlns:a16="http://schemas.microsoft.com/office/drawing/2014/main" id="{DF7C4227-5984-B473-C304-84D90C484CB0}"/>
                </a:ext>
              </a:extLst>
            </p:cNvPr>
            <p:cNvCxnSpPr>
              <a:cxnSpLocks/>
              <a:stCxn id="32" idx="3"/>
              <a:endCxn id="33" idx="1"/>
            </p:cNvCxnSpPr>
            <p:nvPr/>
          </p:nvCxnSpPr>
          <p:spPr>
            <a:xfrm flipV="1">
              <a:off x="1915766" y="2978438"/>
              <a:ext cx="352377" cy="3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005D100B-1C92-81FF-09B7-8E0E587B2DE7}"/>
              </a:ext>
            </a:extLst>
          </p:cNvPr>
          <p:cNvSpPr txBox="1">
            <a:spLocks/>
          </p:cNvSpPr>
          <p:nvPr/>
        </p:nvSpPr>
        <p:spPr>
          <a:xfrm>
            <a:off x="318010" y="5094578"/>
            <a:ext cx="8682366" cy="112639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3.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en-US" altLang="zh-CN" dirty="0"/>
              <a:t>Next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r>
              <a:rPr lang="zh-CN" altLang="en-US" dirty="0"/>
              <a:t>（</a:t>
            </a:r>
            <a:r>
              <a:rPr lang="de-DE" altLang="zh-CN" dirty="0"/>
              <a:t> </a:t>
            </a:r>
            <a:r>
              <a:rPr lang="en-US" altLang="zh-CN" dirty="0"/>
              <a:t>subject-level</a:t>
            </a:r>
            <a:r>
              <a:rPr lang="zh-CN" altLang="en-US" dirty="0"/>
              <a:t> </a:t>
            </a:r>
            <a:r>
              <a:rPr lang="en-US" altLang="zh-CN" dirty="0"/>
              <a:t>cross-validation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broad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subject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cv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N=3-20, restarts=5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18 N × 5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folds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× 5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450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model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fits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➡️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focused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subject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cv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（</a:t>
            </a:r>
            <a:r>
              <a:rPr lang="de-DE" altLang="zh-CN" sz="1600" dirty="0"/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candidate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N, restarts=20) 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689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5911" y="943610"/>
            <a:ext cx="8682366" cy="5715374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/>
              <a:t>Eye-tracking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我制定的初步同步规则可以吗？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2.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/>
              <a:t>HMM</a:t>
            </a:r>
            <a:r>
              <a:rPr lang="zh-CN" altLang="en-US" dirty="0"/>
              <a:t>训练有关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目前决定的检查项可以吗？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486759"/>
            <a:ext cx="8508999" cy="410369"/>
          </a:xfr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疑问点</a:t>
            </a:r>
            <a:endParaRPr lang="de-D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848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sz="3000" dirty="0" err="1"/>
              <a:t>谢谢</a:t>
            </a:r>
            <a:endParaRPr lang="de-DE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876312" y="3018631"/>
            <a:ext cx="1391376" cy="410369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B</a:t>
            </a:r>
            <a:r>
              <a:rPr lang="de-DE" sz="3000" dirty="0"/>
              <a:t>ackup</a:t>
            </a:r>
          </a:p>
        </p:txBody>
      </p:sp>
    </p:spTree>
    <p:extLst>
      <p:ext uri="{BB962C8B-B14F-4D97-AF65-F5344CB8AC3E}">
        <p14:creationId xmlns:p14="http://schemas.microsoft.com/office/powerpoint/2010/main" val="1395967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08671"/>
            <a:ext cx="7930322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Manipulation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check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操作按钮: 开始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E9B0AB6-9F45-E852-A3D3-A1A5A3344266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4FA39D-D17C-A76C-B20C-7A5C1120F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06" y="990671"/>
            <a:ext cx="4283934" cy="276169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4795DF7-5366-9CAF-86D6-233D8A349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968" y="990671"/>
            <a:ext cx="4283932" cy="276169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BD7DC7F-1EC9-A662-21FC-F7B7C0B86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606" y="3659207"/>
            <a:ext cx="4283934" cy="276169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C74A01B-A6D6-9D4E-A123-7476E924D0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8387" y="3639990"/>
            <a:ext cx="4313743" cy="278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237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08671"/>
            <a:ext cx="7930322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Manipulation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check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操作按钮: 开始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E9B0AB6-9F45-E852-A3D3-A1A5A3344266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9C66969-BC86-62A0-53E2-F654C61E1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10" y="1202233"/>
            <a:ext cx="6079466" cy="546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27238"/>
      </p:ext>
    </p:extLst>
  </p:cSld>
  <p:clrMapOvr>
    <a:masterClrMapping/>
  </p:clrMapOvr>
</p:sld>
</file>

<file path=ppt/theme/theme1.xml><?xml version="1.0" encoding="utf-8"?>
<a:theme xmlns:a="http://schemas.openxmlformats.org/drawingml/2006/main" name="160104_TUM_Praesentation_p_v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3AA9884A-113D-4C11-9945-C6A08D921A6E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402C367E-F50E-423C-A37C-5A8CABF57FC5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5CCDF41C-F6E0-4FD6-99AE-3A51B2B147FF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1567C3F1-47A2-4B46-B4FE-8FF264F6166D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F07EE733-870D-406F-B5B6-25783610C7BF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B8BECA3F-AAB3-4A25-9CB6-CCBE808D17ED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160104_TUM_Praesentation_p_v1</Template>
  <TotalTime>34753</TotalTime>
  <Words>597</Words>
  <Application>Microsoft Macintosh PowerPoint</Application>
  <PresentationFormat>全屏显示(4:3)</PresentationFormat>
  <Paragraphs>116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-apple-system</vt:lpstr>
      <vt:lpstr>Arial</vt:lpstr>
      <vt:lpstr>Calibri</vt:lpstr>
      <vt:lpstr>Courier New</vt:lpstr>
      <vt:lpstr>Symbol</vt:lpstr>
      <vt:lpstr>Wingdings</vt:lpstr>
      <vt:lpstr>160104_TUM_Praesentation_p_v1</vt:lpstr>
      <vt:lpstr>Titel 2</vt:lpstr>
      <vt:lpstr>Titel 3</vt:lpstr>
      <vt:lpstr>Inhalt</vt:lpstr>
      <vt:lpstr>Kapiteltrenner blau</vt:lpstr>
      <vt:lpstr>Kapiteltrenner schwarz</vt:lpstr>
      <vt:lpstr>MA 汇报5</vt:lpstr>
      <vt:lpstr>目录</vt:lpstr>
      <vt:lpstr>Manipulation check</vt:lpstr>
      <vt:lpstr>Manipulation check</vt:lpstr>
      <vt:lpstr>Manipulation check（Results）</vt:lpstr>
      <vt:lpstr>Eye-tracking</vt:lpstr>
      <vt:lpstr>HMM training</vt:lpstr>
      <vt:lpstr>疑问点</vt:lpstr>
      <vt:lpstr>谢谢</vt:lpstr>
      <vt:lpstr>Backup</vt:lpstr>
      <vt:lpstr>Manipulation check</vt:lpstr>
      <vt:lpstr>Manipulation check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huilin fang</dc:creator>
  <cp:lastModifiedBy>huilin fang</cp:lastModifiedBy>
  <cp:revision>44</cp:revision>
  <cp:lastPrinted>2015-07-30T14:04:45Z</cp:lastPrinted>
  <dcterms:created xsi:type="dcterms:W3CDTF">2025-11-09T09:25:35Z</dcterms:created>
  <dcterms:modified xsi:type="dcterms:W3CDTF">2026-08-24T18:56:10Z</dcterms:modified>
</cp:coreProperties>
</file>