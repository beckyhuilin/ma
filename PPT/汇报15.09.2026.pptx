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25"/>
  </p:notesMasterIdLst>
  <p:handoutMasterIdLst>
    <p:handoutMasterId r:id="rId26"/>
  </p:handoutMasterIdLst>
  <p:sldIdLst>
    <p:sldId id="355" r:id="rId7"/>
    <p:sldId id="357" r:id="rId8"/>
    <p:sldId id="424" r:id="rId9"/>
    <p:sldId id="415" r:id="rId10"/>
    <p:sldId id="431" r:id="rId11"/>
    <p:sldId id="430" r:id="rId12"/>
    <p:sldId id="432" r:id="rId13"/>
    <p:sldId id="433" r:id="rId14"/>
    <p:sldId id="399" r:id="rId15"/>
    <p:sldId id="370" r:id="rId16"/>
    <p:sldId id="410" r:id="rId17"/>
    <p:sldId id="423" r:id="rId18"/>
    <p:sldId id="419" r:id="rId19"/>
    <p:sldId id="422" r:id="rId20"/>
    <p:sldId id="425" r:id="rId21"/>
    <p:sldId id="429" r:id="rId22"/>
    <p:sldId id="428" r:id="rId23"/>
    <p:sldId id="427" r:id="rId24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14/09/2026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14/09/2026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4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15</a:t>
            </a:r>
            <a:r>
              <a:rPr lang="de-DE" dirty="0"/>
              <a:t>. September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8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978720"/>
            <a:ext cx="8508999" cy="145028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en-US" altLang="zh-CN" dirty="0"/>
              <a:t>Eye-tracking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2. </a:t>
            </a:r>
            <a:r>
              <a:rPr lang="en-US" altLang="zh-CN" dirty="0"/>
              <a:t>Data processing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de-DE" altLang="zh-CN" dirty="0">
                <a:solidFill>
                  <a:schemeClr val="bg2"/>
                </a:solidFill>
              </a:rPr>
              <a:t> </a:t>
            </a:r>
            <a:r>
              <a:rPr lang="de-DE" altLang="zh-CN" dirty="0"/>
              <a:t>GitHub Repository </a:t>
            </a:r>
            <a:r>
              <a:rPr lang="de-DE" altLang="zh-CN" dirty="0" err="1"/>
              <a:t>Preparation</a:t>
            </a:r>
            <a:endParaRPr lang="en-US" altLang="zh-CN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318010" y="1139722"/>
            <a:ext cx="8682366" cy="139908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Collaborator</a:t>
            </a:r>
            <a:r>
              <a:rPr lang="de-DE" altLang="zh-CN" dirty="0"/>
              <a:t> </a:t>
            </a:r>
            <a:r>
              <a:rPr lang="de-DE" altLang="zh-CN" dirty="0" err="1"/>
              <a:t>verification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results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Flagged-case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review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One-to-one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disagreement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&gt; 2000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IoU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&lt; 0.20 → 23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Complex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disagreement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&gt; 4000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IoU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&lt; 0.20 → 6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6992" y="2642545"/>
            <a:ext cx="8682366" cy="139908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/>
              <a:t>Main </a:t>
            </a:r>
            <a:r>
              <a:rPr lang="de-DE" altLang="zh-CN" dirty="0" err="1"/>
              <a:t>disagreement</a:t>
            </a:r>
            <a:r>
              <a:rPr lang="de-DE" altLang="zh-CN" dirty="0"/>
              <a:t> </a:t>
            </a:r>
            <a:r>
              <a:rPr lang="de-DE" altLang="zh-CN" dirty="0" err="1"/>
              <a:t>sources</a:t>
            </a:r>
            <a:r>
              <a:rPr lang="zh-CN" altLang="en-US" dirty="0"/>
              <a:t>（</a:t>
            </a:r>
            <a:r>
              <a:rPr lang="de-DE" altLang="zh-CN" dirty="0"/>
              <a:t> </a:t>
            </a:r>
            <a:r>
              <a:rPr lang="de-DE" altLang="zh-CN" dirty="0" err="1"/>
              <a:t>flagged-case</a:t>
            </a:r>
            <a:r>
              <a:rPr lang="zh-CN" altLang="en-US" dirty="0"/>
              <a:t>）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Short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interruptions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within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intervals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Very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distant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partly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covered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initiator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vehicles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Borderline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points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close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but not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clearly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on,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initiator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DC974-195F-4A39-37D6-23D9D14DAB63}"/>
              </a:ext>
            </a:extLst>
          </p:cNvPr>
          <p:cNvSpPr txBox="1"/>
          <p:nvPr/>
        </p:nvSpPr>
        <p:spPr>
          <a:xfrm>
            <a:off x="2796988" y="6540649"/>
            <a:ext cx="65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endParaRPr kumimoji="1" lang="zh-CN" altLang="en-US" sz="1600" dirty="0" err="1">
              <a:latin typeface="+mn-lt"/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6393415-0A71-721F-96E9-13186BBBDE55}"/>
              </a:ext>
            </a:extLst>
          </p:cNvPr>
          <p:cNvSpPr txBox="1">
            <a:spLocks/>
          </p:cNvSpPr>
          <p:nvPr/>
        </p:nvSpPr>
        <p:spPr>
          <a:xfrm>
            <a:off x="316992" y="4239432"/>
            <a:ext cx="8682366" cy="11408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/>
              <a:t>Final </a:t>
            </a:r>
            <a:r>
              <a:rPr lang="de-DE" altLang="zh-CN" dirty="0" err="1"/>
              <a:t>decision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Keep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rule-based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result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final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all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Differences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were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due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definition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differences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not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errors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736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Data processing</a:t>
            </a:r>
            <a:endParaRPr lang="de-DE" dirty="0">
              <a:solidFill>
                <a:schemeClr val="bg2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55F37B-67B1-AA9F-44BE-330FAB0A1D07}"/>
              </a:ext>
            </a:extLst>
          </p:cNvPr>
          <p:cNvGrpSpPr/>
          <p:nvPr/>
        </p:nvGrpSpPr>
        <p:grpSpPr>
          <a:xfrm>
            <a:off x="318009" y="1685803"/>
            <a:ext cx="5595479" cy="3533340"/>
            <a:chOff x="318009" y="1685803"/>
            <a:chExt cx="5595479" cy="353334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603211C-4E00-D49C-39F1-A990A115B355}"/>
                </a:ext>
              </a:extLst>
            </p:cNvPr>
            <p:cNvGrpSpPr/>
            <p:nvPr/>
          </p:nvGrpSpPr>
          <p:grpSpPr>
            <a:xfrm>
              <a:off x="318009" y="2069579"/>
              <a:ext cx="5595479" cy="3149564"/>
              <a:chOff x="318009" y="2069579"/>
              <a:chExt cx="5595479" cy="3149564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D54AFED8-F929-3A22-AF31-2C0F221B5720}"/>
                  </a:ext>
                </a:extLst>
              </p:cNvPr>
              <p:cNvGrpSpPr/>
              <p:nvPr/>
            </p:nvGrpSpPr>
            <p:grpSpPr>
              <a:xfrm>
                <a:off x="318009" y="2069579"/>
                <a:ext cx="3468730" cy="1610881"/>
                <a:chOff x="285111" y="1932419"/>
                <a:chExt cx="3020804" cy="1610881"/>
              </a:xfrm>
            </p:grpSpPr>
            <p:sp>
              <p:nvSpPr>
                <p:cNvPr id="37" name="圆角矩形 36">
                  <a:extLst>
                    <a:ext uri="{FF2B5EF4-FFF2-40B4-BE49-F238E27FC236}">
                      <a16:creationId xmlns:a16="http://schemas.microsoft.com/office/drawing/2014/main" id="{C1492AD7-3444-7D62-7C5D-9D1BA930098C}"/>
                    </a:ext>
                  </a:extLst>
                </p:cNvPr>
                <p:cNvSpPr/>
                <p:nvPr/>
              </p:nvSpPr>
              <p:spPr>
                <a:xfrm>
                  <a:off x="285111" y="3040379"/>
                  <a:ext cx="1162050" cy="502921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MLC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8" name="圆角矩形 37">
                  <a:extLst>
                    <a:ext uri="{FF2B5EF4-FFF2-40B4-BE49-F238E27FC236}">
                      <a16:creationId xmlns:a16="http://schemas.microsoft.com/office/drawing/2014/main" id="{387BC8EA-8126-1360-CDFF-C3E664E034B7}"/>
                    </a:ext>
                  </a:extLst>
                </p:cNvPr>
                <p:cNvSpPr/>
                <p:nvPr/>
              </p:nvSpPr>
              <p:spPr>
                <a:xfrm>
                  <a:off x="1980807" y="1932419"/>
                  <a:ext cx="1325108" cy="502920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Scenario 1</a:t>
                  </a:r>
                  <a:endPara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cxnSp>
              <p:nvCxnSpPr>
                <p:cNvPr id="39" name="直线连接符 38">
                  <a:extLst>
                    <a:ext uri="{FF2B5EF4-FFF2-40B4-BE49-F238E27FC236}">
                      <a16:creationId xmlns:a16="http://schemas.microsoft.com/office/drawing/2014/main" id="{975A6FA6-775D-C5CE-F1B3-5C473694A711}"/>
                    </a:ext>
                  </a:extLst>
                </p:cNvPr>
                <p:cNvCxnSpPr>
                  <a:cxnSpLocks/>
                  <a:stCxn id="37" idx="3"/>
                  <a:endCxn id="38" idx="1"/>
                </p:cNvCxnSpPr>
                <p:nvPr/>
              </p:nvCxnSpPr>
              <p:spPr>
                <a:xfrm flipV="1">
                  <a:off x="1447161" y="2183879"/>
                  <a:ext cx="533646" cy="1107961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D3444B9C-5667-9C19-6E8B-2E68D306C38D}"/>
                  </a:ext>
                </a:extLst>
              </p:cNvPr>
              <p:cNvCxnSpPr>
                <a:cxnSpLocks/>
                <a:stCxn id="37" idx="3"/>
                <a:endCxn id="29" idx="1"/>
              </p:cNvCxnSpPr>
              <p:nvPr/>
            </p:nvCxnSpPr>
            <p:spPr>
              <a:xfrm>
                <a:off x="1652368" y="3429000"/>
                <a:ext cx="614492" cy="1058927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9" name="圆角矩形 28">
                <a:extLst>
                  <a:ext uri="{FF2B5EF4-FFF2-40B4-BE49-F238E27FC236}">
                    <a16:creationId xmlns:a16="http://schemas.microsoft.com/office/drawing/2014/main" id="{C5CE3A62-80E7-650D-07E9-4F4B65F17EBB}"/>
                  </a:ext>
                </a:extLst>
              </p:cNvPr>
              <p:cNvSpPr/>
              <p:nvPr/>
            </p:nvSpPr>
            <p:spPr>
              <a:xfrm>
                <a:off x="2266860" y="4236467"/>
                <a:ext cx="151987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Scenario 4</a:t>
                </a:r>
                <a:endPara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C947BF35-B327-FCD0-6F54-FB1652CC8FE5}"/>
                  </a:ext>
                </a:extLst>
              </p:cNvPr>
              <p:cNvCxnSpPr>
                <a:cxnSpLocks/>
                <a:stCxn id="29" idx="3"/>
                <a:endCxn id="36" idx="1"/>
              </p:cNvCxnSpPr>
              <p:nvPr/>
            </p:nvCxnSpPr>
            <p:spPr>
              <a:xfrm flipV="1">
                <a:off x="3786738" y="3985007"/>
                <a:ext cx="509349" cy="502920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97663731-18F1-29A2-99CC-E4B8B4A992EA}"/>
                  </a:ext>
                </a:extLst>
              </p:cNvPr>
              <p:cNvCxnSpPr>
                <a:cxnSpLocks/>
                <a:stCxn id="29" idx="3"/>
                <a:endCxn id="34" idx="1"/>
              </p:cNvCxnSpPr>
              <p:nvPr/>
            </p:nvCxnSpPr>
            <p:spPr>
              <a:xfrm>
                <a:off x="3786738" y="4487927"/>
                <a:ext cx="509349" cy="479756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4" name="圆角矩形 33">
                <a:extLst>
                  <a:ext uri="{FF2B5EF4-FFF2-40B4-BE49-F238E27FC236}">
                    <a16:creationId xmlns:a16="http://schemas.microsoft.com/office/drawing/2014/main" id="{6BD3F5C2-172D-6343-54C5-C35527A6B773}"/>
                  </a:ext>
                </a:extLst>
              </p:cNvPr>
              <p:cNvSpPr/>
              <p:nvPr/>
            </p:nvSpPr>
            <p:spPr>
              <a:xfrm>
                <a:off x="4296087" y="4716223"/>
                <a:ext cx="1617401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de-DE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interaction-end </a:t>
                </a:r>
                <a:r>
                  <a:rPr kumimoji="1" lang="de-DE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detection</a:t>
                </a:r>
                <a:endPara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圆角矩形 35">
                <a:extLst>
                  <a:ext uri="{FF2B5EF4-FFF2-40B4-BE49-F238E27FC236}">
                    <a16:creationId xmlns:a16="http://schemas.microsoft.com/office/drawing/2014/main" id="{32B7FDAD-0587-3F01-7233-75B27A1117A4}"/>
                  </a:ext>
                </a:extLst>
              </p:cNvPr>
              <p:cNvSpPr/>
              <p:nvPr/>
            </p:nvSpPr>
            <p:spPr>
              <a:xfrm>
                <a:off x="4296087" y="3733547"/>
                <a:ext cx="1617401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de-DE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Coordinate</a:t>
                </a: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reconstruction</a:t>
                </a:r>
              </a:p>
            </p:txBody>
          </p:sp>
        </p:grp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B736231A-0DF4-727C-2503-0A2A1EC8D621}"/>
                </a:ext>
              </a:extLst>
            </p:cNvPr>
            <p:cNvSpPr/>
            <p:nvPr/>
          </p:nvSpPr>
          <p:spPr>
            <a:xfrm>
              <a:off x="4245517" y="1685803"/>
              <a:ext cx="1617401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lane</a:t>
              </a:r>
              <a:r>
                <a:rPr kumimoji="1" lang="de-DE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/ </a:t>
              </a:r>
              <a:r>
                <a:rPr kumimoji="1" lang="de-DE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map</a:t>
              </a:r>
              <a:r>
                <a:rPr kumimoji="1" lang="de-DE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relationship</a:t>
              </a:r>
              <a:endPara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C4BEE943-DA29-972B-A8B3-ECE928A7938B}"/>
                </a:ext>
              </a:extLst>
            </p:cNvPr>
            <p:cNvSpPr/>
            <p:nvPr/>
          </p:nvSpPr>
          <p:spPr>
            <a:xfrm>
              <a:off x="4245517" y="2409711"/>
              <a:ext cx="1617401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lateral </a:t>
              </a:r>
              <a:r>
                <a:rPr kumimoji="1" lang="de-DE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displacement</a:t>
              </a:r>
              <a:r>
                <a:rPr kumimoji="1" lang="de-DE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reconstruction</a:t>
              </a:r>
              <a:endPara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B1AD68BF-DB27-1255-E958-A87AD2027C54}"/>
                </a:ext>
              </a:extLst>
            </p:cNvPr>
            <p:cNvCxnSpPr>
              <a:cxnSpLocks/>
              <a:stCxn id="38" idx="3"/>
              <a:endCxn id="17" idx="1"/>
            </p:cNvCxnSpPr>
            <p:nvPr/>
          </p:nvCxnSpPr>
          <p:spPr>
            <a:xfrm flipV="1">
              <a:off x="3786739" y="1937263"/>
              <a:ext cx="458778" cy="3837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76354FEC-4504-C6E6-DB89-06C2F1DEF4F2}"/>
                </a:ext>
              </a:extLst>
            </p:cNvPr>
            <p:cNvCxnSpPr>
              <a:cxnSpLocks/>
              <a:stCxn id="38" idx="3"/>
              <a:endCxn id="19" idx="1"/>
            </p:cNvCxnSpPr>
            <p:nvPr/>
          </p:nvCxnSpPr>
          <p:spPr>
            <a:xfrm>
              <a:off x="3786739" y="2321039"/>
              <a:ext cx="458778" cy="34013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Data processing(Scenario 1)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11411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lane</a:t>
            </a:r>
            <a:r>
              <a:rPr lang="de-DE" altLang="zh-CN" dirty="0"/>
              <a:t> / </a:t>
            </a:r>
            <a:r>
              <a:rPr lang="de-DE" altLang="zh-CN" dirty="0" err="1"/>
              <a:t>map</a:t>
            </a:r>
            <a:r>
              <a:rPr lang="de-DE" altLang="zh-CN" dirty="0"/>
              <a:t> </a:t>
            </a:r>
            <a:r>
              <a:rPr lang="de-DE" altLang="zh-CN" dirty="0" err="1"/>
              <a:t>relationship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Checked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videos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IDs,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information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Summarized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relationship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between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lane_id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actual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position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spur/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road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segments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9024" y="2211648"/>
            <a:ext cx="8507983" cy="173562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lateral </a:t>
            </a:r>
            <a:r>
              <a:rPr lang="de-DE" altLang="zh-CN" dirty="0" err="1"/>
              <a:t>displacement</a:t>
            </a:r>
            <a:r>
              <a:rPr lang="de-DE" altLang="zh-CN" dirty="0"/>
              <a:t> </a:t>
            </a:r>
            <a:r>
              <a:rPr lang="de-DE" altLang="zh-CN" dirty="0" err="1"/>
              <a:t>reconstruction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Coordinate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-system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note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y-coordinate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Map1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spur1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part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spur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？）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centerline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has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opposite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sign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Global Y 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driving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Reconstructed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initiator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lateral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displacement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relative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current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road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centerline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163/162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remain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empty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detail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match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？）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7C6CAC6-A5AA-8B2F-B10A-C8CC1B9FE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14433"/>
              </p:ext>
            </p:extLst>
          </p:nvPr>
        </p:nvGraphicFramePr>
        <p:xfrm>
          <a:off x="373472" y="3947277"/>
          <a:ext cx="7427499" cy="2708598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1984447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2418476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1496989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  <a:gridCol w="1527587">
                  <a:extLst>
                    <a:ext uri="{9D8B030D-6E8A-4147-A177-3AD203B41FA5}">
                      <a16:colId xmlns:a16="http://schemas.microsoft.com/office/drawing/2014/main" val="227511756"/>
                    </a:ext>
                  </a:extLst>
                </a:gridCol>
              </a:tblGrid>
              <a:tr h="362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Raw </a:t>
                      </a:r>
                      <a:r>
                        <a:rPr lang="de-DE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LaneID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Physical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road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Map1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reference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Handling in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coordinate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reconstruction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5, 218, 219, 220, 221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Main-road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5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Spur 1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Use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corresponding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road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centerline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as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main-road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reference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6, 192, 129, 148, 160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Main-road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6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Spur 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38476"/>
                  </a:ext>
                </a:extLst>
              </a:tr>
              <a:tr h="385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7, 193, 130, 149, 161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Main-road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7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Spur 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4157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195, 196, 131, 150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Merging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ramp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Spur 5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Use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ramp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/ spur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centerline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as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reference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163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Branch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toward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merge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into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lane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7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Transition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toward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Spur 3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left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empty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41476"/>
                  </a:ext>
                </a:extLst>
              </a:tr>
            </a:tbl>
          </a:graphicData>
        </a:graphic>
      </p:graphicFrame>
      <p:sp>
        <p:nvSpPr>
          <p:cNvPr id="5" name="操作按钮: 前进或下一个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4E0AB9D-C558-E3B1-AF8D-D04CF8D1C213}"/>
              </a:ext>
            </a:extLst>
          </p:cNvPr>
          <p:cNvSpPr/>
          <p:nvPr/>
        </p:nvSpPr>
        <p:spPr>
          <a:xfrm>
            <a:off x="5545567" y="3641391"/>
            <a:ext cx="247426" cy="246646"/>
          </a:xfrm>
          <a:prstGeom prst="actionButtonForwardNex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049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Data processing(Scenario 4)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11411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Coordinate</a:t>
            </a:r>
            <a:r>
              <a:rPr lang="zh-CN" altLang="en-US" dirty="0"/>
              <a:t> </a:t>
            </a:r>
            <a:r>
              <a:rPr lang="en-US" altLang="zh-CN" dirty="0"/>
              <a:t>reconstruction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map1/map2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s1&amp;s2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cannot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directly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Scenario 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Ego-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coordinate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system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consistent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DLC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method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6992" y="2026542"/>
            <a:ext cx="8507983" cy="204838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interaction-end </a:t>
            </a:r>
            <a:r>
              <a:rPr lang="de-DE" altLang="zh-CN" dirty="0" err="1"/>
              <a:t>detection</a:t>
            </a:r>
            <a:r>
              <a:rPr lang="zh-CN" altLang="en-US" dirty="0"/>
              <a:t>（</a:t>
            </a:r>
            <a:r>
              <a:rPr lang="en-US" altLang="zh-CN" dirty="0"/>
              <a:t>initial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end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point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initiator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enters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7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becomes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laterally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stable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difficult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cases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Off-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ramp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makes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fixed-coordinate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thresholds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difficult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apply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y_main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lateral v, and a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change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due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road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curvature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rather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than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lane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-change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Some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events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do not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satisfy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original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stable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Strict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position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/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acceleration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thresholds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reject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visually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reasonable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end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points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8AB5D46-77B8-77AD-B63A-525D2BFB8C15}"/>
              </a:ext>
            </a:extLst>
          </p:cNvPr>
          <p:cNvSpPr txBox="1">
            <a:spLocks/>
          </p:cNvSpPr>
          <p:nvPr/>
        </p:nvSpPr>
        <p:spPr>
          <a:xfrm>
            <a:off x="316992" y="3898945"/>
            <a:ext cx="8507983" cy="4430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revised</a:t>
            </a:r>
            <a:r>
              <a:rPr lang="de-DE" altLang="zh-CN" dirty="0"/>
              <a:t> </a:t>
            </a:r>
            <a:r>
              <a:rPr lang="de-DE" altLang="zh-CN" dirty="0" err="1"/>
              <a:t>rule</a:t>
            </a:r>
            <a:r>
              <a:rPr lang="de-DE" altLang="zh-CN" dirty="0"/>
              <a:t> </a:t>
            </a:r>
            <a:r>
              <a:rPr lang="de-DE" altLang="zh-CN" dirty="0" err="1"/>
              <a:t>for</a:t>
            </a:r>
            <a:r>
              <a:rPr lang="de-DE" altLang="zh-CN" dirty="0"/>
              <a:t> </a:t>
            </a:r>
            <a:r>
              <a:rPr lang="de-DE" altLang="zh-CN" dirty="0" err="1"/>
              <a:t>difficult</a:t>
            </a:r>
            <a:r>
              <a:rPr lang="de-DE" altLang="zh-CN" dirty="0"/>
              <a:t> </a:t>
            </a:r>
            <a:r>
              <a:rPr lang="de-DE" altLang="zh-CN" dirty="0" err="1"/>
              <a:t>cases</a:t>
            </a:r>
            <a:endParaRPr lang="de-DE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23615E3-415D-34A3-95E6-8A6E99526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387164"/>
              </p:ext>
            </p:extLst>
          </p:nvPr>
        </p:nvGraphicFramePr>
        <p:xfrm>
          <a:off x="394442" y="4343299"/>
          <a:ext cx="6770152" cy="2219873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1229963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5540189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</a:tblGrid>
              <a:tr h="362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Main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rule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Success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79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v_y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 &lt; 0.10 m/s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de-DE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a_y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 &lt; 0.10 m/s² 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Stable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for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≥ 0.5 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Fallback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33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Used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only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if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success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fails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v_y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 &lt; 0.10 m/s 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b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a_y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 &lt; 0.20 m/s² 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Stable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for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≥ 0.5 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38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Warning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First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choice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last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low-velocity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segment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permanent lane-7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corridor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exit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(|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v_y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| &lt; 0.10 m/s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for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≥ 0.3 s) 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Second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choice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confirmed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y_main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= 0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crossing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32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de-DE" altLang="zh-CN" dirty="0">
                <a:solidFill>
                  <a:schemeClr val="bg2"/>
                </a:solidFill>
              </a:rPr>
              <a:t>GitHub Repository </a:t>
            </a:r>
            <a:r>
              <a:rPr lang="de-DE" altLang="zh-CN" dirty="0" err="1">
                <a:solidFill>
                  <a:schemeClr val="bg2"/>
                </a:solidFill>
              </a:rPr>
              <a:t>Preparation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1"/>
            <a:ext cx="8682366" cy="154989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Organized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</a:t>
            </a:r>
            <a:r>
              <a:rPr lang="de-DE" altLang="zh-CN" dirty="0" err="1"/>
              <a:t>materials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</a:t>
            </a:r>
            <a:r>
              <a:rPr lang="de-DE" altLang="zh-CN" dirty="0" err="1"/>
              <a:t>be</a:t>
            </a:r>
            <a:r>
              <a:rPr lang="de-DE" altLang="zh-CN" dirty="0"/>
              <a:t> </a:t>
            </a:r>
            <a:r>
              <a:rPr lang="de-DE" altLang="zh-CN" dirty="0" err="1"/>
              <a:t>uploaded</a:t>
            </a:r>
            <a:r>
              <a:rPr lang="de-DE" altLang="zh-CN" dirty="0"/>
              <a:t> </a:t>
            </a:r>
            <a:r>
              <a:rPr lang="de-DE" altLang="zh-CN" dirty="0" err="1"/>
              <a:t>to</a:t>
            </a:r>
            <a:r>
              <a:rPr lang="de-DE" altLang="zh-CN" dirty="0"/>
              <a:t> GitHub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processing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DLC+MLC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Manipulation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check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62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230817" y="739024"/>
            <a:ext cx="8682366" cy="2259104"/>
          </a:xfrm>
        </p:spPr>
        <p:txBody>
          <a:bodyPr/>
          <a:lstStyle/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信息中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是不是就是错了，直接取反合理吗？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spur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5centerline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到底是到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还是到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，为什么坐标一开始符号对后来又反了（</a:t>
            </a:r>
            <a:r>
              <a:rPr lang="zh-CN" altLang="en-US" sz="1400" dirty="0">
                <a:solidFill>
                  <a:srgbClr val="FF0000"/>
                </a:solidFill>
              </a:rPr>
              <a:t>直接取反，</a:t>
            </a:r>
            <a:r>
              <a:rPr lang="en-US" altLang="zh-CN" sz="1400" dirty="0">
                <a:solidFill>
                  <a:srgbClr val="FF0000"/>
                </a:solidFill>
              </a:rPr>
              <a:t>163</a:t>
            </a:r>
            <a:r>
              <a:rPr lang="zh-CN" altLang="en-US" sz="1400" dirty="0">
                <a:solidFill>
                  <a:srgbClr val="FF0000"/>
                </a:solidFill>
              </a:rPr>
              <a:t>先空，</a:t>
            </a:r>
            <a:r>
              <a:rPr lang="en-US" altLang="zh-CN" sz="1400" dirty="0">
                <a:solidFill>
                  <a:srgbClr val="FF0000"/>
                </a:solidFill>
              </a:rPr>
              <a:t>162</a:t>
            </a:r>
            <a:r>
              <a:rPr lang="zh-CN" altLang="en-US" sz="1400" dirty="0">
                <a:solidFill>
                  <a:srgbClr val="FF0000"/>
                </a:solidFill>
              </a:rPr>
              <a:t>算</a:t>
            </a:r>
            <a:r>
              <a:rPr lang="en-US" altLang="zh-CN" sz="1400" dirty="0">
                <a:solidFill>
                  <a:srgbClr val="FF0000"/>
                </a:solidFill>
              </a:rPr>
              <a:t>spur5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重构的横向位移存疑：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交汇处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centerline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后期符号和数值感觉不太对。和地图对应关系奇怪，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在驾驶数据中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lane_id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149-161-163-7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，和地图匹配不上，实际不可能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跑到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</a:t>
            </a:r>
            <a:r>
              <a:rPr lang="en-US" altLang="zh-CN" sz="1400" dirty="0">
                <a:solidFill>
                  <a:srgbClr val="FF0000"/>
                </a:solidFill>
              </a:rPr>
              <a:t>End</a:t>
            </a:r>
            <a:r>
              <a:rPr lang="zh-CN" altLang="en-US" sz="1400" dirty="0">
                <a:solidFill>
                  <a:srgbClr val="FF0000"/>
                </a:solidFill>
              </a:rPr>
              <a:t>点还是稳定点，</a:t>
            </a:r>
            <a:r>
              <a:rPr lang="en-US" altLang="zh-CN" sz="1400" dirty="0">
                <a:solidFill>
                  <a:srgbClr val="FF0000"/>
                </a:solidFill>
              </a:rPr>
              <a:t>ego</a:t>
            </a:r>
            <a:r>
              <a:rPr lang="zh-CN" altLang="en-US" sz="1400" dirty="0">
                <a:solidFill>
                  <a:srgbClr val="FF0000"/>
                </a:solidFill>
              </a:rPr>
              <a:t>共享坐标）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的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interaciton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区剪裁也暂定，因场景复杂，规定特殊性比较强</a:t>
            </a:r>
            <a:r>
              <a:rPr lang="zh-CN" altLang="en-US" sz="1400" dirty="0">
                <a:solidFill>
                  <a:srgbClr val="FF0000"/>
                </a:solidFill>
              </a:rPr>
              <a:t>（暂定可以）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" name="操作按钮: 开始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79BD70-2E62-1601-52C6-744BB00492D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5A99EF-50BE-8B64-C5CB-9EF677C00A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63" t="37145" r="1391" b="-1"/>
          <a:stretch/>
        </p:blipFill>
        <p:spPr>
          <a:xfrm>
            <a:off x="315911" y="3065929"/>
            <a:ext cx="3929518" cy="36247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2A1DDC-34A4-2F95-F718-3603298CA7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80" t="-380"/>
          <a:stretch/>
        </p:blipFill>
        <p:spPr>
          <a:xfrm>
            <a:off x="4245429" y="3006476"/>
            <a:ext cx="3352045" cy="26696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4DBE0E-E927-D39D-80FA-5FCADD8E1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834" y="3025302"/>
            <a:ext cx="1449323" cy="24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7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" name="操作按钮: 开始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79BD70-2E62-1601-52C6-744BB00492D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3C8C5EF-E104-3333-50BF-203BD768D7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76" t="-893" r="-1" b="9674"/>
          <a:stretch/>
        </p:blipFill>
        <p:spPr>
          <a:xfrm>
            <a:off x="319090" y="923742"/>
            <a:ext cx="5800111" cy="549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raw</a:t>
            </a:r>
            <a:r>
              <a:rPr lang="zh-CN" altLang="en-US" dirty="0">
                <a:solidFill>
                  <a:schemeClr val="bg2"/>
                </a:solidFill>
              </a:rPr>
              <a:t>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39722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Drafting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 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aligning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driving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target_TimeMS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 and 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matched_TimeMS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first-frame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Scenario Start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Scenario_N_Start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Missing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Run Start Marker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8010" y="3126230"/>
            <a:ext cx="8682366" cy="8418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/>
              <a:t>Data </a:t>
            </a:r>
            <a:r>
              <a:rPr lang="de-DE" altLang="zh-CN" dirty="0" err="1"/>
              <a:t>synchronization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496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events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4088494"/>
            <a:ext cx="8682366" cy="15984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/>
              <a:t>Data </a:t>
            </a:r>
            <a:r>
              <a:rPr lang="de-DE" altLang="zh-CN" dirty="0" err="1"/>
              <a:t>sharing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collaborator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next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step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discuss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method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353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B0E79DF-F533-A76F-FCD8-8573477D6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82816"/>
              </p:ext>
            </p:extLst>
          </p:nvPr>
        </p:nvGraphicFramePr>
        <p:xfrm>
          <a:off x="316992" y="1258644"/>
          <a:ext cx="5945323" cy="2667465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111517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2117721">
                  <a:extLst>
                    <a:ext uri="{9D8B030D-6E8A-4147-A177-3AD203B41FA5}">
                      <a16:colId xmlns:a16="http://schemas.microsoft.com/office/drawing/2014/main" val="2205978506"/>
                    </a:ext>
                  </a:extLst>
                </a:gridCol>
                <a:gridCol w="1716085">
                  <a:extLst>
                    <a:ext uri="{9D8B030D-6E8A-4147-A177-3AD203B41FA5}">
                      <a16:colId xmlns:a16="http://schemas.microsoft.com/office/drawing/2014/main" val="2229381209"/>
                    </a:ext>
                  </a:extLst>
                </a:gridCol>
              </a:tblGrid>
              <a:tr h="36249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Comparison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category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Subcategory</a:t>
                      </a:r>
                      <a:endParaRPr lang="de-DE" altLang="zh-CN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Number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400" b="1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groups</a:t>
                      </a:r>
                      <a:endParaRPr lang="de-DE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32928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One-to-one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Total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Containment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840675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Partial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570917"/>
                  </a:ext>
                </a:extLst>
              </a:tr>
              <a:tr h="32928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Complex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Total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38476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Complex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Equal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segment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counts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626278"/>
                  </a:ext>
                </a:extLst>
              </a:tr>
              <a:tr h="32928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Different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segment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counts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368439"/>
                  </a:ext>
                </a:extLst>
              </a:tr>
              <a:tr h="3292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overlap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Single</a:t>
                      </a:r>
                      <a:r>
                        <a:rPr lang="zh-CN" altLang="en-US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annotator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gaze</a:t>
                      </a:r>
                      <a:r>
                        <a:rPr lang="de-DE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2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intervals</a:t>
                      </a:r>
                      <a:endParaRPr lang="en-US" altLang="zh-CN" sz="12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1433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41476"/>
                  </a:ext>
                </a:extLst>
              </a:tr>
            </a:tbl>
          </a:graphicData>
        </a:graphic>
      </p:graphicFrame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D237C7B-7214-3FBF-FBEB-1A80177BF018}"/>
              </a:ext>
            </a:extLst>
          </p:cNvPr>
          <p:cNvSpPr txBox="1">
            <a:spLocks/>
          </p:cNvSpPr>
          <p:nvPr/>
        </p:nvSpPr>
        <p:spPr>
          <a:xfrm>
            <a:off x="316992" y="4180295"/>
            <a:ext cx="8682366" cy="75746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Summary(&gt;=100ms)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Total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overlap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groups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564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37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DC974-195F-4A39-37D6-23D9D14DAB63}"/>
              </a:ext>
            </a:extLst>
          </p:cNvPr>
          <p:cNvSpPr txBox="1"/>
          <p:nvPr/>
        </p:nvSpPr>
        <p:spPr>
          <a:xfrm>
            <a:off x="2796988" y="6540649"/>
            <a:ext cx="65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endParaRPr kumimoji="1" lang="zh-CN" altLang="en-US" sz="1600" dirty="0" err="1">
              <a:latin typeface="+mn-lt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55D96196-F712-0267-BF0C-B7C226C48399}"/>
              </a:ext>
            </a:extLst>
          </p:cNvPr>
          <p:cNvGrpSpPr/>
          <p:nvPr/>
        </p:nvGrpSpPr>
        <p:grpSpPr>
          <a:xfrm>
            <a:off x="317015" y="1414038"/>
            <a:ext cx="8029781" cy="4369781"/>
            <a:chOff x="317015" y="1414038"/>
            <a:chExt cx="8029781" cy="436978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0C4DA5E-7A82-7E72-AC66-A756E4F85B9A}"/>
                </a:ext>
              </a:extLst>
            </p:cNvPr>
            <p:cNvGrpSpPr/>
            <p:nvPr/>
          </p:nvGrpSpPr>
          <p:grpSpPr>
            <a:xfrm>
              <a:off x="318010" y="1414038"/>
              <a:ext cx="4780228" cy="4107237"/>
              <a:chOff x="1223618" y="1832535"/>
              <a:chExt cx="4780228" cy="4107237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1987AC6B-DD6E-FA8C-7A0E-588F18F28606}"/>
                  </a:ext>
                </a:extLst>
              </p:cNvPr>
              <p:cNvGrpSpPr/>
              <p:nvPr/>
            </p:nvGrpSpPr>
            <p:grpSpPr>
              <a:xfrm>
                <a:off x="1223618" y="1832535"/>
                <a:ext cx="4780228" cy="525089"/>
                <a:chOff x="1341961" y="2788429"/>
                <a:chExt cx="5067269" cy="525089"/>
              </a:xfrm>
            </p:grpSpPr>
            <p:grpSp>
              <p:nvGrpSpPr>
                <p:cNvPr id="25" name="组合 24">
                  <a:extLst>
                    <a:ext uri="{FF2B5EF4-FFF2-40B4-BE49-F238E27FC236}">
                      <a16:creationId xmlns:a16="http://schemas.microsoft.com/office/drawing/2014/main" id="{01C4969D-795F-C8AB-F1D5-AAC23AEA6553}"/>
                    </a:ext>
                  </a:extLst>
                </p:cNvPr>
                <p:cNvGrpSpPr/>
                <p:nvPr/>
              </p:nvGrpSpPr>
              <p:grpSpPr>
                <a:xfrm>
                  <a:off x="1341961" y="2788429"/>
                  <a:ext cx="5067269" cy="525089"/>
                  <a:chOff x="1176838" y="3229428"/>
                  <a:chExt cx="4412919" cy="525089"/>
                </a:xfrm>
              </p:grpSpPr>
              <p:sp>
                <p:nvSpPr>
                  <p:cNvPr id="28" name="圆角矩形 27">
                    <a:extLst>
                      <a:ext uri="{FF2B5EF4-FFF2-40B4-BE49-F238E27FC236}">
                        <a16:creationId xmlns:a16="http://schemas.microsoft.com/office/drawing/2014/main" id="{4B6AC4E3-1063-DEC3-A939-4701EC682F52}"/>
                      </a:ext>
                    </a:extLst>
                  </p:cNvPr>
                  <p:cNvSpPr/>
                  <p:nvPr/>
                </p:nvSpPr>
                <p:spPr>
                  <a:xfrm>
                    <a:off x="1176838" y="3240511"/>
                    <a:ext cx="1424495" cy="502921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Initial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comparison-rule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9" name="圆角矩形 28">
                    <a:extLst>
                      <a:ext uri="{FF2B5EF4-FFF2-40B4-BE49-F238E27FC236}">
                        <a16:creationId xmlns:a16="http://schemas.microsoft.com/office/drawing/2014/main" id="{E84B8838-C7AC-67EF-6270-4530D1F65059}"/>
                      </a:ext>
                    </a:extLst>
                  </p:cNvPr>
                  <p:cNvSpPr/>
                  <p:nvPr/>
                </p:nvSpPr>
                <p:spPr>
                  <a:xfrm>
                    <a:off x="4335719" y="3240512"/>
                    <a:ext cx="1254038" cy="502920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lang="de-DE" altLang="zh-CN" sz="1200" b="1" i="0" u="none" strike="noStrike" dirty="0">
                        <a:solidFill>
                          <a:srgbClr val="24292E"/>
                        </a:solidFill>
                        <a:effectLst/>
                        <a:latin typeface="-apple-system"/>
                      </a:rPr>
                      <a:t> </a:t>
                    </a:r>
                    <a:r>
                      <a:rPr lang="de-DE" altLang="zh-CN" sz="1400" dirty="0"/>
                      <a:t> 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Data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diagnosis</a:t>
                    </a:r>
                    <a:endPara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圆角矩形 29">
                    <a:extLst>
                      <a:ext uri="{FF2B5EF4-FFF2-40B4-BE49-F238E27FC236}">
                        <a16:creationId xmlns:a16="http://schemas.microsoft.com/office/drawing/2014/main" id="{35B456F1-D050-23DF-CD12-20DD0CA77887}"/>
                      </a:ext>
                    </a:extLst>
                  </p:cNvPr>
                  <p:cNvSpPr/>
                  <p:nvPr/>
                </p:nvSpPr>
                <p:spPr>
                  <a:xfrm>
                    <a:off x="2841507" y="3229428"/>
                    <a:ext cx="125403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Discussion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p:grpSp>
            <p:cxnSp>
              <p:nvCxnSpPr>
                <p:cNvPr id="26" name="直线箭头连接符 25">
                  <a:extLst>
                    <a:ext uri="{FF2B5EF4-FFF2-40B4-BE49-F238E27FC236}">
                      <a16:creationId xmlns:a16="http://schemas.microsoft.com/office/drawing/2014/main" id="{E42F9975-1B04-FD05-C10A-F4BE42760911}"/>
                    </a:ext>
                  </a:extLst>
                </p:cNvPr>
                <p:cNvCxnSpPr>
                  <a:cxnSpLocks/>
                  <a:stCxn id="28" idx="3"/>
                  <a:endCxn id="30" idx="1"/>
                </p:cNvCxnSpPr>
                <p:nvPr/>
              </p:nvCxnSpPr>
              <p:spPr>
                <a:xfrm>
                  <a:off x="2977681" y="3050973"/>
                  <a:ext cx="27578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线箭头连接符 26">
                  <a:extLst>
                    <a:ext uri="{FF2B5EF4-FFF2-40B4-BE49-F238E27FC236}">
                      <a16:creationId xmlns:a16="http://schemas.microsoft.com/office/drawing/2014/main" id="{948E9418-699E-719E-7FBE-3B0440D1F8D1}"/>
                    </a:ext>
                  </a:extLst>
                </p:cNvPr>
                <p:cNvCxnSpPr>
                  <a:cxnSpLocks/>
                  <a:stCxn id="30" idx="3"/>
                  <a:endCxn id="29" idx="1"/>
                </p:cNvCxnSpPr>
                <p:nvPr/>
              </p:nvCxnSpPr>
              <p:spPr>
                <a:xfrm flipV="1">
                  <a:off x="4693455" y="3050973"/>
                  <a:ext cx="27578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直线箭头连接符 23">
                <a:extLst>
                  <a:ext uri="{FF2B5EF4-FFF2-40B4-BE49-F238E27FC236}">
                    <a16:creationId xmlns:a16="http://schemas.microsoft.com/office/drawing/2014/main" id="{CA137A9E-80BA-D73A-75A0-2948572F51BD}"/>
                  </a:ext>
                </a:extLst>
              </p:cNvPr>
              <p:cNvCxnSpPr>
                <a:cxnSpLocks/>
                <a:stCxn id="72" idx="3"/>
                <a:endCxn id="73" idx="1"/>
              </p:cNvCxnSpPr>
              <p:nvPr/>
            </p:nvCxnSpPr>
            <p:spPr>
              <a:xfrm>
                <a:off x="2766681" y="5938661"/>
                <a:ext cx="289244" cy="1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7293B355-E575-3FFD-3A7B-042CB3425862}"/>
                </a:ext>
              </a:extLst>
            </p:cNvPr>
            <p:cNvSpPr/>
            <p:nvPr/>
          </p:nvSpPr>
          <p:spPr>
            <a:xfrm>
              <a:off x="5358403" y="1425122"/>
              <a:ext cx="1358418" cy="492128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refinement</a:t>
              </a:r>
              <a:endPara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D8A8B5FF-889F-2A32-F663-0C910BD7AA11}"/>
                </a:ext>
              </a:extLst>
            </p:cNvPr>
            <p:cNvSpPr/>
            <p:nvPr/>
          </p:nvSpPr>
          <p:spPr>
            <a:xfrm>
              <a:off x="6976986" y="1425122"/>
              <a:ext cx="1358418" cy="492128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Discussion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22C8DC01-E9FB-458C-01FC-187C5A6F0D4D}"/>
                </a:ext>
              </a:extLst>
            </p:cNvPr>
            <p:cNvSpPr/>
            <p:nvPr/>
          </p:nvSpPr>
          <p:spPr>
            <a:xfrm>
              <a:off x="6988378" y="2707040"/>
              <a:ext cx="1358418" cy="514006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final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圆角矩形 53">
              <a:extLst>
                <a:ext uri="{FF2B5EF4-FFF2-40B4-BE49-F238E27FC236}">
                  <a16:creationId xmlns:a16="http://schemas.microsoft.com/office/drawing/2014/main" id="{7B558527-4CEF-5AA2-EE4B-6AE3B4297D92}"/>
                </a:ext>
              </a:extLst>
            </p:cNvPr>
            <p:cNvSpPr/>
            <p:nvPr/>
          </p:nvSpPr>
          <p:spPr>
            <a:xfrm>
              <a:off x="6988378" y="3574274"/>
              <a:ext cx="1358418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comparison</a:t>
              </a:r>
              <a:endParaRPr kumimoji="1" lang="de-DE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result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圆角矩形 54">
              <a:extLst>
                <a:ext uri="{FF2B5EF4-FFF2-40B4-BE49-F238E27FC236}">
                  <a16:creationId xmlns:a16="http://schemas.microsoft.com/office/drawing/2014/main" id="{A700B417-45C7-A4B1-74BF-E4E859BB30FC}"/>
                </a:ext>
              </a:extLst>
            </p:cNvPr>
            <p:cNvSpPr/>
            <p:nvPr/>
          </p:nvSpPr>
          <p:spPr>
            <a:xfrm>
              <a:off x="317015" y="2718125"/>
              <a:ext cx="1543063" cy="491836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Synchronization-rule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update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308B3D5D-DBF0-D1D0-CE64-CA9E40FDE625}"/>
                </a:ext>
              </a:extLst>
            </p:cNvPr>
            <p:cNvSpPr/>
            <p:nvPr/>
          </p:nvSpPr>
          <p:spPr>
            <a:xfrm>
              <a:off x="2123350" y="2718125"/>
              <a:ext cx="1358417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Discussion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57" name="直线箭头连接符 56">
              <a:extLst>
                <a:ext uri="{FF2B5EF4-FFF2-40B4-BE49-F238E27FC236}">
                  <a16:creationId xmlns:a16="http://schemas.microsoft.com/office/drawing/2014/main" id="{F709196F-B831-5E5C-EBDE-C967657BA927}"/>
                </a:ext>
              </a:extLst>
            </p:cNvPr>
            <p:cNvCxnSpPr>
              <a:cxnSpLocks/>
              <a:stCxn id="55" idx="3"/>
              <a:endCxn id="56" idx="1"/>
            </p:cNvCxnSpPr>
            <p:nvPr/>
          </p:nvCxnSpPr>
          <p:spPr>
            <a:xfrm>
              <a:off x="1860078" y="2964043"/>
              <a:ext cx="263272" cy="55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圆角矩形 60">
              <a:extLst>
                <a:ext uri="{FF2B5EF4-FFF2-40B4-BE49-F238E27FC236}">
                  <a16:creationId xmlns:a16="http://schemas.microsoft.com/office/drawing/2014/main" id="{0CCB1338-61FA-6922-6757-74981674C935}"/>
                </a:ext>
              </a:extLst>
            </p:cNvPr>
            <p:cNvSpPr/>
            <p:nvPr/>
          </p:nvSpPr>
          <p:spPr>
            <a:xfrm>
              <a:off x="3761571" y="2718125"/>
              <a:ext cx="1358417" cy="50292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Final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CCC84F4F-7F0E-8480-6BB0-513677B38655}"/>
                </a:ext>
              </a:extLst>
            </p:cNvPr>
            <p:cNvCxnSpPr>
              <a:cxnSpLocks/>
              <a:stCxn id="56" idx="3"/>
              <a:endCxn id="61" idx="1"/>
            </p:cNvCxnSpPr>
            <p:nvPr/>
          </p:nvCxnSpPr>
          <p:spPr>
            <a:xfrm>
              <a:off x="3481767" y="2969586"/>
              <a:ext cx="279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箭头连接符 64">
              <a:extLst>
                <a:ext uri="{FF2B5EF4-FFF2-40B4-BE49-F238E27FC236}">
                  <a16:creationId xmlns:a16="http://schemas.microsoft.com/office/drawing/2014/main" id="{18CCD55A-261A-5EF1-6EF3-B3E2CEFD6CFB}"/>
                </a:ext>
              </a:extLst>
            </p:cNvPr>
            <p:cNvCxnSpPr>
              <a:cxnSpLocks/>
              <a:stCxn id="29" idx="3"/>
              <a:endCxn id="41" idx="1"/>
            </p:cNvCxnSpPr>
            <p:nvPr/>
          </p:nvCxnSpPr>
          <p:spPr>
            <a:xfrm flipV="1">
              <a:off x="5098238" y="1671186"/>
              <a:ext cx="260165" cy="53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箭头连接符 67">
              <a:extLst>
                <a:ext uri="{FF2B5EF4-FFF2-40B4-BE49-F238E27FC236}">
                  <a16:creationId xmlns:a16="http://schemas.microsoft.com/office/drawing/2014/main" id="{5129114E-4F4F-8B14-27C4-715E1BD6A9B2}"/>
                </a:ext>
              </a:extLst>
            </p:cNvPr>
            <p:cNvCxnSpPr>
              <a:cxnSpLocks/>
              <a:stCxn id="41" idx="3"/>
              <a:endCxn id="46" idx="1"/>
            </p:cNvCxnSpPr>
            <p:nvPr/>
          </p:nvCxnSpPr>
          <p:spPr>
            <a:xfrm>
              <a:off x="6716821" y="1671186"/>
              <a:ext cx="2601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圆角矩形 71">
              <a:extLst>
                <a:ext uri="{FF2B5EF4-FFF2-40B4-BE49-F238E27FC236}">
                  <a16:creationId xmlns:a16="http://schemas.microsoft.com/office/drawing/2014/main" id="{8AE037D4-41CC-3322-CD7C-501860DAEE8C}"/>
                </a:ext>
              </a:extLst>
            </p:cNvPr>
            <p:cNvSpPr/>
            <p:nvPr/>
          </p:nvSpPr>
          <p:spPr>
            <a:xfrm>
              <a:off x="318010" y="5268703"/>
              <a:ext cx="1543063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Annotation-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rule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update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B1DE4E22-5CA0-2786-9E9D-5B7D9342E279}"/>
                </a:ext>
              </a:extLst>
            </p:cNvPr>
            <p:cNvSpPr/>
            <p:nvPr/>
          </p:nvSpPr>
          <p:spPr>
            <a:xfrm>
              <a:off x="2150317" y="5258730"/>
              <a:ext cx="1358417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Discussion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8" name="圆角矩形 87">
              <a:extLst>
                <a:ext uri="{FF2B5EF4-FFF2-40B4-BE49-F238E27FC236}">
                  <a16:creationId xmlns:a16="http://schemas.microsoft.com/office/drawing/2014/main" id="{23CB5F69-1198-1D05-A924-B2984A97BCAE}"/>
                </a:ext>
              </a:extLst>
            </p:cNvPr>
            <p:cNvSpPr/>
            <p:nvPr/>
          </p:nvSpPr>
          <p:spPr>
            <a:xfrm>
              <a:off x="5315076" y="4333202"/>
              <a:ext cx="1560746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Synchronization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result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41925B14-A889-3968-FA36-75E1FC9F93BA}"/>
                </a:ext>
              </a:extLst>
            </p:cNvPr>
            <p:cNvCxnSpPr>
              <a:cxnSpLocks/>
              <a:stCxn id="46" idx="2"/>
              <a:endCxn id="53" idx="0"/>
            </p:cNvCxnSpPr>
            <p:nvPr/>
          </p:nvCxnSpPr>
          <p:spPr>
            <a:xfrm>
              <a:off x="7656195" y="1917250"/>
              <a:ext cx="11392" cy="789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9FAFF6A2-5988-3992-8EE4-5B8908D4EBD1}"/>
                </a:ext>
              </a:extLst>
            </p:cNvPr>
            <p:cNvCxnSpPr>
              <a:cxnSpLocks/>
              <a:stCxn id="53" idx="2"/>
              <a:endCxn id="54" idx="0"/>
            </p:cNvCxnSpPr>
            <p:nvPr/>
          </p:nvCxnSpPr>
          <p:spPr>
            <a:xfrm>
              <a:off x="7667587" y="3221046"/>
              <a:ext cx="0" cy="3532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箭头连接符 101">
              <a:extLst>
                <a:ext uri="{FF2B5EF4-FFF2-40B4-BE49-F238E27FC236}">
                  <a16:creationId xmlns:a16="http://schemas.microsoft.com/office/drawing/2014/main" id="{982EB562-163E-E0BA-DDD5-92A81D8FB248}"/>
                </a:ext>
              </a:extLst>
            </p:cNvPr>
            <p:cNvCxnSpPr>
              <a:cxnSpLocks/>
              <a:stCxn id="61" idx="2"/>
              <a:endCxn id="109" idx="0"/>
            </p:cNvCxnSpPr>
            <p:nvPr/>
          </p:nvCxnSpPr>
          <p:spPr>
            <a:xfrm>
              <a:off x="4440780" y="3221047"/>
              <a:ext cx="0" cy="358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圆角矩形 108">
              <a:extLst>
                <a:ext uri="{FF2B5EF4-FFF2-40B4-BE49-F238E27FC236}">
                  <a16:creationId xmlns:a16="http://schemas.microsoft.com/office/drawing/2014/main" id="{082D7803-62EB-0FA1-A1D0-F6E7FBA47318}"/>
                </a:ext>
              </a:extLst>
            </p:cNvPr>
            <p:cNvSpPr/>
            <p:nvPr/>
          </p:nvSpPr>
          <p:spPr>
            <a:xfrm>
              <a:off x="3761571" y="3579671"/>
              <a:ext cx="1358418" cy="525089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200" b="1" i="0" u="none" strike="noStrike" dirty="0">
                  <a:solidFill>
                    <a:srgbClr val="24292E"/>
                  </a:solidFill>
                  <a:effectLst/>
                  <a:latin typeface="-apple-system"/>
                </a:rPr>
                <a:t> </a:t>
              </a:r>
              <a:r>
                <a:rPr lang="de-DE" altLang="zh-CN" sz="1400" dirty="0"/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anchor</a:t>
              </a: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de-DE" altLang="zh-CN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BD67650-2542-C9A5-CD50-8238F0D9134D}"/>
                </a:ext>
              </a:extLst>
            </p:cNvPr>
            <p:cNvSpPr txBox="1"/>
            <p:nvPr/>
          </p:nvSpPr>
          <p:spPr>
            <a:xfrm>
              <a:off x="4547638" y="3286663"/>
              <a:ext cx="288541" cy="225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+mn-cs"/>
                </a:rPr>
                <a:t>raw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cxnSp>
          <p:nvCxnSpPr>
            <p:cNvPr id="127" name="直线连接符 126">
              <a:extLst>
                <a:ext uri="{FF2B5EF4-FFF2-40B4-BE49-F238E27FC236}">
                  <a16:creationId xmlns:a16="http://schemas.microsoft.com/office/drawing/2014/main" id="{621D2E2C-EEA7-6057-9404-E79A60CE2161}"/>
                </a:ext>
              </a:extLst>
            </p:cNvPr>
            <p:cNvCxnSpPr>
              <a:stCxn id="109" idx="3"/>
              <a:endCxn id="54" idx="1"/>
            </p:cNvCxnSpPr>
            <p:nvPr/>
          </p:nvCxnSpPr>
          <p:spPr>
            <a:xfrm flipV="1">
              <a:off x="5119989" y="3836819"/>
              <a:ext cx="1868389" cy="5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线箭头连接符 127">
              <a:extLst>
                <a:ext uri="{FF2B5EF4-FFF2-40B4-BE49-F238E27FC236}">
                  <a16:creationId xmlns:a16="http://schemas.microsoft.com/office/drawing/2014/main" id="{9DE21D3B-A036-36F3-3E0B-A82DD6009F5A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6095449" y="3844729"/>
              <a:ext cx="0" cy="4884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864C9DAB-9A45-0ECA-7C5A-F1D7E8F9F8B3}"/>
                </a:ext>
              </a:extLst>
            </p:cNvPr>
            <p:cNvSpPr txBox="1"/>
            <p:nvPr/>
          </p:nvSpPr>
          <p:spPr>
            <a:xfrm>
              <a:off x="7718650" y="3283726"/>
              <a:ext cx="288541" cy="2250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+mn-cs"/>
                </a:rPr>
                <a:t>raw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32A1C7B-BCE9-A95E-B028-F9F90C177035}"/>
                </a:ext>
              </a:extLst>
            </p:cNvPr>
            <p:cNvSpPr txBox="1"/>
            <p:nvPr/>
          </p:nvSpPr>
          <p:spPr>
            <a:xfrm>
              <a:off x="3507772" y="1418048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E5184FDA-F79B-24AE-6150-E5484842DC02}"/>
                </a:ext>
              </a:extLst>
            </p:cNvPr>
            <p:cNvSpPr txBox="1"/>
            <p:nvPr/>
          </p:nvSpPr>
          <p:spPr>
            <a:xfrm>
              <a:off x="7718650" y="2237241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FCDFE2E-91DA-B513-055D-843116F5C13F}"/>
                </a:ext>
              </a:extLst>
            </p:cNvPr>
            <p:cNvSpPr txBox="1"/>
            <p:nvPr/>
          </p:nvSpPr>
          <p:spPr>
            <a:xfrm>
              <a:off x="3509888" y="2711052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667466C0-285D-589B-28F0-1E55FF812BEF}"/>
                </a:ext>
              </a:extLst>
            </p:cNvPr>
            <p:cNvSpPr txBox="1"/>
            <p:nvPr/>
          </p:nvSpPr>
          <p:spPr>
            <a:xfrm>
              <a:off x="3582035" y="5403592"/>
              <a:ext cx="179536" cy="23314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✅</a:t>
              </a:r>
              <a:endParaRPr kumimoji="1" lang="zh-CN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147" name="圆角矩形 146">
              <a:extLst>
                <a:ext uri="{FF2B5EF4-FFF2-40B4-BE49-F238E27FC236}">
                  <a16:creationId xmlns:a16="http://schemas.microsoft.com/office/drawing/2014/main" id="{AEA001FC-61F1-804D-3EF8-0501A90C7E22}"/>
                </a:ext>
              </a:extLst>
            </p:cNvPr>
            <p:cNvSpPr/>
            <p:nvPr/>
          </p:nvSpPr>
          <p:spPr>
            <a:xfrm>
              <a:off x="5315076" y="5186814"/>
              <a:ext cx="1560746" cy="525089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de-DE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Final check/review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C19F5768-AF40-42C7-6DCD-44307C42511D}"/>
                </a:ext>
              </a:extLst>
            </p:cNvPr>
            <p:cNvCxnSpPr>
              <a:cxnSpLocks/>
              <a:stCxn id="88" idx="2"/>
              <a:endCxn id="147" idx="0"/>
            </p:cNvCxnSpPr>
            <p:nvPr/>
          </p:nvCxnSpPr>
          <p:spPr>
            <a:xfrm>
              <a:off x="6095449" y="4858291"/>
              <a:ext cx="0" cy="32852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文本框 162">
            <a:extLst>
              <a:ext uri="{FF2B5EF4-FFF2-40B4-BE49-F238E27FC236}">
                <a16:creationId xmlns:a16="http://schemas.microsoft.com/office/drawing/2014/main" id="{0E19F4D2-458F-8CDD-3ED9-8B9CDD09EB33}"/>
              </a:ext>
            </a:extLst>
          </p:cNvPr>
          <p:cNvSpPr txBox="1"/>
          <p:nvPr/>
        </p:nvSpPr>
        <p:spPr>
          <a:xfrm>
            <a:off x="3461913" y="3005999"/>
            <a:ext cx="328616" cy="22506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de-DE" altLang="zh-CN" sz="1400" dirty="0" err="1">
                <a:solidFill>
                  <a:srgbClr val="FF0000"/>
                </a:solidFill>
                <a:latin typeface="+mn-ea"/>
                <a:cs typeface="+mn-cs"/>
              </a:rPr>
              <a:t>new</a:t>
            </a:r>
            <a:endParaRPr kumimoji="1" lang="de-DE" altLang="zh-CN" sz="1400" dirty="0">
              <a:solidFill>
                <a:srgbClr val="FF0000"/>
              </a:solidFill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31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</a:t>
            </a:r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799E942-F6D4-5372-6214-43EB0E98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16" y="1482398"/>
            <a:ext cx="5245864" cy="4463264"/>
          </a:xfrm>
          <a:prstGeom prst="rect">
            <a:avLst/>
          </a:prstGeom>
        </p:spPr>
      </p:pic>
      <p:sp>
        <p:nvSpPr>
          <p:cNvPr id="28" name="操作按钮: 开始 2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F36342B-586A-52CC-1833-EB5C406F18C3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467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</a:t>
            </a:r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9F4FE28-DDE0-837F-983E-F2A657B6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4141376"/>
            <a:ext cx="4495103" cy="26970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82C27A-6DF6-C29F-F298-B05B186F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" y="1415421"/>
            <a:ext cx="4495102" cy="26970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6BDE88-6813-7F2D-8AD8-9A5ED68A1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60" y="1491058"/>
            <a:ext cx="4369040" cy="2621424"/>
          </a:xfrm>
          <a:prstGeom prst="rect">
            <a:avLst/>
          </a:prstGeom>
        </p:spPr>
      </p:pic>
      <p:sp>
        <p:nvSpPr>
          <p:cNvPr id="8" name="操作按钮: 开始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DC01556-BCE2-5DF5-24AB-B833F1AFF069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7688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/>
              <a:t>Focused</a:t>
            </a:r>
            <a:r>
              <a:rPr lang="de-DE" altLang="zh-CN" dirty="0"/>
              <a:t> CV</a:t>
            </a:r>
            <a:r>
              <a:rPr lang="en-US" altLang="zh-CN" dirty="0"/>
              <a:t>(N=12-20)</a:t>
            </a:r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58F5457-B062-8923-CCBE-B8F6B24E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28" y="1569090"/>
            <a:ext cx="7772400" cy="3408297"/>
          </a:xfrm>
          <a:prstGeom prst="rect">
            <a:avLst/>
          </a:prstGeom>
        </p:spPr>
      </p:pic>
      <p:sp>
        <p:nvSpPr>
          <p:cNvPr id="2" name="操作按钮: 开始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766CDBC-3B1B-818A-7CD2-EB60D0177C1D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895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training(initial)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Overall </a:t>
            </a:r>
            <a:r>
              <a:rPr lang="de-DE" altLang="zh-CN" dirty="0" err="1"/>
              <a:t>training</a:t>
            </a:r>
            <a:r>
              <a:rPr lang="de-DE" altLang="zh-CN" dirty="0"/>
              <a:t> plan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08" y="4022358"/>
            <a:ext cx="8507983" cy="17821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Broad CV </a:t>
            </a:r>
            <a:r>
              <a:rPr lang="de-DE" altLang="zh-CN" dirty="0" err="1"/>
              <a:t>candidate</a:t>
            </a:r>
            <a:r>
              <a:rPr lang="de-DE" altLang="zh-CN" dirty="0"/>
              <a:t> </a:t>
            </a:r>
            <a:r>
              <a:rPr lang="de-DE" altLang="zh-CN" dirty="0" err="1"/>
              <a:t>screening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Design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 = 3–20;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n_iter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=1000;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5;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covariance_type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diag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(18 N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450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5-fold;</a:t>
            </a:r>
            <a:r>
              <a:rPr lang="de-DE" altLang="zh-CN" sz="1600" dirty="0"/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group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variable: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subject_id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metrics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Generalization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Valid /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restarts…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1AA3A48-68D6-D8D4-022A-D4BE2C615832}"/>
              </a:ext>
            </a:extLst>
          </p:cNvPr>
          <p:cNvGrpSpPr/>
          <p:nvPr/>
        </p:nvGrpSpPr>
        <p:grpSpPr>
          <a:xfrm>
            <a:off x="475816" y="1680624"/>
            <a:ext cx="8192367" cy="2269638"/>
            <a:chOff x="475816" y="1680624"/>
            <a:chExt cx="8192367" cy="2269638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D5B9BB2D-D490-712A-864A-76CC1DEEDA0D}"/>
                </a:ext>
              </a:extLst>
            </p:cNvPr>
            <p:cNvGrpSpPr/>
            <p:nvPr/>
          </p:nvGrpSpPr>
          <p:grpSpPr>
            <a:xfrm>
              <a:off x="475816" y="1680624"/>
              <a:ext cx="8192367" cy="1400851"/>
              <a:chOff x="220113" y="1832534"/>
              <a:chExt cx="8192367" cy="1400851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44D47FF-E28C-04B2-806B-CFB80A3A897E}"/>
                  </a:ext>
                </a:extLst>
              </p:cNvPr>
              <p:cNvGrpSpPr/>
              <p:nvPr/>
            </p:nvGrpSpPr>
            <p:grpSpPr>
              <a:xfrm>
                <a:off x="1223618" y="1832534"/>
                <a:ext cx="7188862" cy="525090"/>
                <a:chOff x="1341961" y="2788428"/>
                <a:chExt cx="7620536" cy="525090"/>
              </a:xfrm>
            </p:grpSpPr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ABFE4028-797B-C814-FE08-41E446B19C6C}"/>
                    </a:ext>
                  </a:extLst>
                </p:cNvPr>
                <p:cNvGrpSpPr/>
                <p:nvPr/>
              </p:nvGrpSpPr>
              <p:grpSpPr>
                <a:xfrm>
                  <a:off x="1341961" y="2788428"/>
                  <a:ext cx="7620536" cy="525090"/>
                  <a:chOff x="1176838" y="3229427"/>
                  <a:chExt cx="6636475" cy="525090"/>
                </a:xfrm>
              </p:grpSpPr>
              <p:sp>
                <p:nvSpPr>
                  <p:cNvPr id="23" name="圆角矩形 22">
                    <a:extLst>
                      <a:ext uri="{FF2B5EF4-FFF2-40B4-BE49-F238E27FC236}">
                        <a16:creationId xmlns:a16="http://schemas.microsoft.com/office/drawing/2014/main" id="{A4A655CC-E7A0-89B3-EB1C-5A0D7611A05A}"/>
                      </a:ext>
                    </a:extLst>
                  </p:cNvPr>
                  <p:cNvSpPr/>
                  <p:nvPr/>
                </p:nvSpPr>
                <p:spPr>
                  <a:xfrm>
                    <a:off x="1176838" y="3240511"/>
                    <a:ext cx="1565360" cy="502921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GMM-HMM</a:t>
                    </a:r>
                    <a:r>
                      <a:rPr kumimoji="1"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r>
                      <a:rPr kumimoji="1"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modeling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6" name="圆角矩形 25">
                    <a:extLst>
                      <a:ext uri="{FF2B5EF4-FFF2-40B4-BE49-F238E27FC236}">
                        <a16:creationId xmlns:a16="http://schemas.microsoft.com/office/drawing/2014/main" id="{7758FB64-0036-1731-D348-6D73D9ADA80A}"/>
                      </a:ext>
                    </a:extLst>
                  </p:cNvPr>
                  <p:cNvSpPr/>
                  <p:nvPr/>
                </p:nvSpPr>
                <p:spPr>
                  <a:xfrm>
                    <a:off x="6042646" y="3229427"/>
                    <a:ext cx="177066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lang="de-DE" altLang="zh-CN" sz="1200" b="1" i="0" u="none" strike="noStrike" dirty="0">
                        <a:solidFill>
                          <a:srgbClr val="24292E"/>
                        </a:solidFill>
                        <a:effectLst/>
                        <a:latin typeface="-apple-system"/>
                      </a:rPr>
                      <a:t> 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Interaction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chain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and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pattern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identification</a:t>
                    </a:r>
                    <a:endParaRPr kumimoji="1" lang="en-US" altLang="zh-CN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27" name="圆角矩形 26">
                    <a:extLst>
                      <a:ext uri="{FF2B5EF4-FFF2-40B4-BE49-F238E27FC236}">
                        <a16:creationId xmlns:a16="http://schemas.microsoft.com/office/drawing/2014/main" id="{775A401B-C10E-D65D-3658-571EAFAD6C50}"/>
                      </a:ext>
                    </a:extLst>
                  </p:cNvPr>
                  <p:cNvSpPr/>
                  <p:nvPr/>
                </p:nvSpPr>
                <p:spPr>
                  <a:xfrm>
                    <a:off x="3507089" y="3229428"/>
                    <a:ext cx="1770667" cy="525089"/>
                  </a:xfrm>
                  <a:prstGeom prst="roundRect">
                    <a:avLst/>
                  </a:prstGeom>
                  <a:solidFill>
                    <a:schemeClr val="bg2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Primitive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extraction</a:t>
                    </a:r>
                    <a:r>
                      <a:rPr kumimoji="1" lang="de-DE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 and </a:t>
                    </a:r>
                    <a:r>
                      <a:rPr kumimoji="1" lang="de-DE" altLang="zh-CN" sz="14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clustering</a:t>
                    </a:r>
                    <a:endPara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p:grpSp>
            <p:cxnSp>
              <p:nvCxnSpPr>
                <p:cNvPr id="6" name="直线箭头连接符 5">
                  <a:extLst>
                    <a:ext uri="{FF2B5EF4-FFF2-40B4-BE49-F238E27FC236}">
                      <a16:creationId xmlns:a16="http://schemas.microsoft.com/office/drawing/2014/main" id="{BAFAAB2D-8FD1-1608-9CB0-AD67239446F2}"/>
                    </a:ext>
                  </a:extLst>
                </p:cNvPr>
                <p:cNvCxnSpPr>
                  <a:cxnSpLocks/>
                  <a:stCxn id="23" idx="3"/>
                  <a:endCxn id="27" idx="1"/>
                </p:cNvCxnSpPr>
                <p:nvPr/>
              </p:nvCxnSpPr>
              <p:spPr>
                <a:xfrm>
                  <a:off x="3139434" y="3050973"/>
                  <a:ext cx="878309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线箭头连接符 7">
                  <a:extLst>
                    <a:ext uri="{FF2B5EF4-FFF2-40B4-BE49-F238E27FC236}">
                      <a16:creationId xmlns:a16="http://schemas.microsoft.com/office/drawing/2014/main" id="{66F4175D-D5BA-138E-D818-B4FF742ED477}"/>
                    </a:ext>
                  </a:extLst>
                </p:cNvPr>
                <p:cNvCxnSpPr>
                  <a:cxnSpLocks/>
                  <a:stCxn id="27" idx="3"/>
                  <a:endCxn id="26" idx="1"/>
                </p:cNvCxnSpPr>
                <p:nvPr/>
              </p:nvCxnSpPr>
              <p:spPr>
                <a:xfrm flipV="1">
                  <a:off x="6050965" y="3050973"/>
                  <a:ext cx="878310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圆角矩形 31">
                <a:extLst>
                  <a:ext uri="{FF2B5EF4-FFF2-40B4-BE49-F238E27FC236}">
                    <a16:creationId xmlns:a16="http://schemas.microsoft.com/office/drawing/2014/main" id="{AD314C6A-8139-A02B-E38B-B4C66A08CF03}"/>
                  </a:ext>
                </a:extLst>
              </p:cNvPr>
              <p:cNvSpPr/>
              <p:nvPr/>
            </p:nvSpPr>
            <p:spPr>
              <a:xfrm>
                <a:off x="220113" y="2730464"/>
                <a:ext cx="1695653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Pooled</a:t>
                </a:r>
                <a:r>
                  <a:rPr kumimoji="1"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training</a:t>
                </a:r>
                <a:endPara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3" name="圆角矩形 32">
                <a:extLst>
                  <a:ext uri="{FF2B5EF4-FFF2-40B4-BE49-F238E27FC236}">
                    <a16:creationId xmlns:a16="http://schemas.microsoft.com/office/drawing/2014/main" id="{9B371ABD-4268-4756-8327-78E81D7014C9}"/>
                  </a:ext>
                </a:extLst>
              </p:cNvPr>
              <p:cNvSpPr/>
              <p:nvPr/>
            </p:nvSpPr>
            <p:spPr>
              <a:xfrm>
                <a:off x="2268143" y="2726977"/>
                <a:ext cx="1695653" cy="502921"/>
              </a:xfrm>
              <a:prstGeom prst="roundRect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Subject-level</a:t>
                </a:r>
              </a:p>
              <a:p>
                <a:pPr algn="ctr">
                  <a:lnSpc>
                    <a:spcPct val="114000"/>
                  </a:lnSpc>
                </a:pPr>
                <a:r>
                  <a:rPr kumimoji="1" lang="en-US" altLang="zh-CN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Cross-validation</a:t>
                </a:r>
                <a:endParaRPr kumimoji="1"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35" name="肘形连接符 34">
                <a:extLst>
                  <a:ext uri="{FF2B5EF4-FFF2-40B4-BE49-F238E27FC236}">
                    <a16:creationId xmlns:a16="http://schemas.microsoft.com/office/drawing/2014/main" id="{5F1817FD-BA8B-C49B-432E-963DFE62B7D0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>
                <a:off x="1915766" y="2524006"/>
                <a:ext cx="1200204" cy="20297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>
                <a:extLst>
                  <a:ext uri="{FF2B5EF4-FFF2-40B4-BE49-F238E27FC236}">
                    <a16:creationId xmlns:a16="http://schemas.microsoft.com/office/drawing/2014/main" id="{5C644AF4-EE18-0EFE-DA32-E45C27663C2B}"/>
                  </a:ext>
                </a:extLst>
              </p:cNvPr>
              <p:cNvCxnSpPr>
                <a:cxnSpLocks/>
                <a:endCxn id="32" idx="0"/>
              </p:cNvCxnSpPr>
              <p:nvPr/>
            </p:nvCxnSpPr>
            <p:spPr>
              <a:xfrm rot="10800000" flipV="1">
                <a:off x="1067940" y="2524006"/>
                <a:ext cx="847826" cy="20645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56">
                <a:extLst>
                  <a:ext uri="{FF2B5EF4-FFF2-40B4-BE49-F238E27FC236}">
                    <a16:creationId xmlns:a16="http://schemas.microsoft.com/office/drawing/2014/main" id="{99A3988B-DF8D-9C1E-17FF-53F528504D89}"/>
                  </a:ext>
                </a:extLst>
              </p:cNvPr>
              <p:cNvCxnSpPr>
                <a:stCxn id="23" idx="2"/>
              </p:cNvCxnSpPr>
              <p:nvPr/>
            </p:nvCxnSpPr>
            <p:spPr>
              <a:xfrm flipH="1">
                <a:off x="2071444" y="2346539"/>
                <a:ext cx="1" cy="17746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线箭头连接符 57">
                <a:extLst>
                  <a:ext uri="{FF2B5EF4-FFF2-40B4-BE49-F238E27FC236}">
                    <a16:creationId xmlns:a16="http://schemas.microsoft.com/office/drawing/2014/main" id="{DF7C4227-5984-B473-C304-84D90C484CB0}"/>
                  </a:ext>
                </a:extLst>
              </p:cNvPr>
              <p:cNvCxnSpPr>
                <a:cxnSpLocks/>
                <a:stCxn id="32" idx="3"/>
                <a:endCxn id="33" idx="1"/>
              </p:cNvCxnSpPr>
              <p:nvPr/>
            </p:nvCxnSpPr>
            <p:spPr>
              <a:xfrm flipV="1">
                <a:off x="1915766" y="2978438"/>
                <a:ext cx="352377" cy="34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55772E45-4C9D-7B5D-0739-2240E0E4CEB9}"/>
                </a:ext>
              </a:extLst>
            </p:cNvPr>
            <p:cNvSpPr/>
            <p:nvPr/>
          </p:nvSpPr>
          <p:spPr>
            <a:xfrm>
              <a:off x="1518448" y="3447341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400" dirty="0"/>
                <a:t>Broad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CV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AB9B3A8D-A87D-DBF9-46F7-C2D9ED7F5174}"/>
                </a:ext>
              </a:extLst>
            </p:cNvPr>
            <p:cNvSpPr/>
            <p:nvPr/>
          </p:nvSpPr>
          <p:spPr>
            <a:xfrm>
              <a:off x="3563758" y="3447341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altLang="zh-CN" sz="1400" err="1">
                  <a:solidFill>
                    <a:schemeClr val="dk1"/>
                  </a:solidFill>
                </a:rPr>
                <a:t>Focused</a:t>
              </a:r>
              <a:r>
                <a:rPr lang="zh-CN" altLang="en-US" sz="1400">
                  <a:solidFill>
                    <a:schemeClr val="dk1"/>
                  </a:solidFill>
                </a:rPr>
                <a:t> </a:t>
              </a:r>
              <a:r>
                <a:rPr lang="en-US" altLang="zh-CN" sz="1400" dirty="0">
                  <a:solidFill>
                    <a:schemeClr val="dk1"/>
                  </a:solidFill>
                </a:rPr>
                <a:t>CV</a:t>
              </a:r>
              <a:endParaRPr lang="zh-CN" altLang="en-US" sz="1400" dirty="0">
                <a:solidFill>
                  <a:schemeClr val="dk1"/>
                </a:solidFill>
              </a:endParaRPr>
            </a:p>
          </p:txBody>
        </p:sp>
        <p:cxnSp>
          <p:nvCxnSpPr>
            <p:cNvPr id="9" name="肘形连接符 8">
              <a:extLst>
                <a:ext uri="{FF2B5EF4-FFF2-40B4-BE49-F238E27FC236}">
                  <a16:creationId xmlns:a16="http://schemas.microsoft.com/office/drawing/2014/main" id="{6CD880EE-80D8-620E-F886-C7F69D550510}"/>
                </a:ext>
              </a:extLst>
            </p:cNvPr>
            <p:cNvCxnSpPr>
              <a:cxnSpLocks/>
            </p:cNvCxnSpPr>
            <p:nvPr/>
          </p:nvCxnSpPr>
          <p:spPr>
            <a:xfrm>
              <a:off x="3214102" y="3244370"/>
              <a:ext cx="1200204" cy="2029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连接符 9">
              <a:extLst>
                <a:ext uri="{FF2B5EF4-FFF2-40B4-BE49-F238E27FC236}">
                  <a16:creationId xmlns:a16="http://schemas.microsoft.com/office/drawing/2014/main" id="{BCEDE187-6B16-E948-9FA5-BEF9BBEEDF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66276" y="3244370"/>
              <a:ext cx="847826" cy="2064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D093933D-8FA1-FB50-5CA8-30D5C1C259EF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 flipH="1">
              <a:off x="3369780" y="3077988"/>
              <a:ext cx="1893" cy="166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05324AC8-8C93-9E79-8A6B-22C8EC428E33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3214101" y="3698802"/>
              <a:ext cx="3496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8848335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41018</TotalTime>
  <Words>1116</Words>
  <Application>Microsoft Macintosh PowerPoint</Application>
  <PresentationFormat>全屏显示(4:3)</PresentationFormat>
  <Paragraphs>208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-apple-system</vt:lpstr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汇报8</vt:lpstr>
      <vt:lpstr>Content</vt:lpstr>
      <vt:lpstr>Eye-tracking</vt:lpstr>
      <vt:lpstr>Data processing</vt:lpstr>
      <vt:lpstr>Data processing(Scenario 1)</vt:lpstr>
      <vt:lpstr>Data processing(Scenario 4)</vt:lpstr>
      <vt:lpstr>GitHub Repository Preparation</vt:lpstr>
      <vt:lpstr>疑问点</vt:lpstr>
      <vt:lpstr>疑问点</vt:lpstr>
      <vt:lpstr>谢谢</vt:lpstr>
      <vt:lpstr>Backup</vt:lpstr>
      <vt:lpstr>Eye-tracking（raw）</vt:lpstr>
      <vt:lpstr>Eye-tracking</vt:lpstr>
      <vt:lpstr>Eye-tracking</vt:lpstr>
      <vt:lpstr>HMM training(initial)</vt:lpstr>
      <vt:lpstr>HMM training(initial)</vt:lpstr>
      <vt:lpstr>HMM training(initial)</vt:lpstr>
      <vt:lpstr>HMM training(initial)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65</cp:revision>
  <cp:lastPrinted>2015-07-30T14:04:45Z</cp:lastPrinted>
  <dcterms:created xsi:type="dcterms:W3CDTF">2025-11-09T09:25:35Z</dcterms:created>
  <dcterms:modified xsi:type="dcterms:W3CDTF">2026-09-15T20:38:11Z</dcterms:modified>
</cp:coreProperties>
</file>