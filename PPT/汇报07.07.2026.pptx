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3" r:id="rId1"/>
    <p:sldMasterId id="2147483668" r:id="rId2"/>
    <p:sldMasterId id="2147483674" r:id="rId3"/>
    <p:sldMasterId id="2147483648" r:id="rId4"/>
    <p:sldMasterId id="2147483684" r:id="rId5"/>
    <p:sldMasterId id="2147483697" r:id="rId6"/>
  </p:sldMasterIdLst>
  <p:notesMasterIdLst>
    <p:notesMasterId r:id="rId16"/>
  </p:notesMasterIdLst>
  <p:handoutMasterIdLst>
    <p:handoutMasterId r:id="rId17"/>
  </p:handoutMasterIdLst>
  <p:sldIdLst>
    <p:sldId id="355" r:id="rId7"/>
    <p:sldId id="357" r:id="rId8"/>
    <p:sldId id="369" r:id="rId9"/>
    <p:sldId id="400" r:id="rId10"/>
    <p:sldId id="399" r:id="rId11"/>
    <p:sldId id="411" r:id="rId12"/>
    <p:sldId id="370" r:id="rId13"/>
    <p:sldId id="410" r:id="rId14"/>
    <p:sldId id="397" r:id="rId15"/>
  </p:sldIdLst>
  <p:sldSz cx="9144000" cy="6858000" type="screen4x3"/>
  <p:notesSz cx="9925050" cy="6665913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00">
          <p15:clr>
            <a:srgbClr val="A4A3A4"/>
          </p15:clr>
        </p15:guide>
        <p15:guide id="2" pos="312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9999"/>
    <a:srgbClr val="98C6EA"/>
    <a:srgbClr val="0052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D5ABB26-0587-4C30-8999-92F81FD0307C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84E427A-3D55-4303-BF80-6455036E1DE7}" styleName="Designformatvorlage 1 - Akz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E269D01E-BC32-4049-B463-5C60D7B0CCD2}" styleName="Designformatvorlage 2 - Akz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D083AE6-46FA-4A59-8FB0-9F97EB10719F}" styleName="Helle Formatvorlage 3 - Akz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7292A2E-F333-43FB-9621-5CBBE7FDCDCB}" styleName="Helle Formatvorlage 2 - Akz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Helle Formatvorlage 1 - Akz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C4B1156A-380E-4F78-BDF5-A606A8083BF9}" styleName="Mittlere Formatvorlage 4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06799F8-075E-4A3A-A7F6-7FBC6576F1A4}" styleName="主题样式 2 - 强调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6132" autoAdjust="0"/>
    <p:restoredTop sz="88272" autoAdjust="0"/>
  </p:normalViewPr>
  <p:slideViewPr>
    <p:cSldViewPr snapToGrid="0">
      <p:cViewPr varScale="1">
        <p:scale>
          <a:sx n="119" d="100"/>
          <a:sy n="119" d="100"/>
        </p:scale>
        <p:origin x="840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135" d="100"/>
          <a:sy n="135" d="100"/>
        </p:scale>
        <p:origin x="-1518" y="-90"/>
      </p:cViewPr>
      <p:guideLst>
        <p:guide orient="horz" pos="2100"/>
        <p:guide pos="312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20751376-2EB8-4403-B858-305A8AAA6B01}" type="datetimeFigureOut">
              <a:rPr lang="en-GB"/>
              <a:pPr>
                <a:defRPr/>
              </a:pPr>
              <a:t>22/07/2026</a:t>
            </a:fld>
            <a:endParaRPr lang="en-GB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fld id="{62C15F7A-46C6-4AD2-BFEC-842DCCCC19C4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909573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5621901" y="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9C46BC9-2C9E-4670-A85A-6A588BA2D405}" type="datetimeFigureOut">
              <a:rPr lang="en-GB"/>
              <a:pPr>
                <a:defRPr/>
              </a:pPr>
              <a:t>22/07/2026</a:t>
            </a:fld>
            <a:endParaRPr lang="en-GB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295650" y="500063"/>
            <a:ext cx="3333750" cy="25003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708" tIns="45354" rIns="90708" bIns="45354" rtlCol="0" anchor="ctr"/>
          <a:lstStyle/>
          <a:p>
            <a:pPr lvl="0"/>
            <a:endParaRPr lang="en-GB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992506" y="3166309"/>
            <a:ext cx="7940040" cy="2999661"/>
          </a:xfrm>
          <a:prstGeom prst="rect">
            <a:avLst/>
          </a:prstGeom>
        </p:spPr>
        <p:txBody>
          <a:bodyPr vert="horz" wrap="square" lIns="90708" tIns="45354" rIns="90708" bIns="45354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2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Arial" pitchFamily="34" charset="0"/>
                <a:cs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5621901" y="6331460"/>
            <a:ext cx="4300855" cy="333296"/>
          </a:xfrm>
          <a:prstGeom prst="rect">
            <a:avLst/>
          </a:prstGeom>
        </p:spPr>
        <p:txBody>
          <a:bodyPr vert="horz" lIns="90708" tIns="45354" rIns="90708" bIns="45354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0AFC6D0-44D5-4EB7-828F-6F464F83D7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99730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Arial" pitchFamily="34" charset="0"/>
      </a:defRPr>
    </a:lvl1pPr>
    <a:lvl2pPr marL="182563" indent="-182563" algn="l" rtl="0" fontAlgn="base">
      <a:spcBef>
        <a:spcPct val="30000"/>
      </a:spcBef>
      <a:spcAft>
        <a:spcPct val="0"/>
      </a:spcAft>
      <a:buFont typeface="Arial" charset="0"/>
      <a:buChar char="•"/>
      <a:defRPr sz="1200" kern="1200">
        <a:solidFill>
          <a:schemeClr val="tx1"/>
        </a:solidFill>
        <a:latin typeface="+mn-lt"/>
        <a:ea typeface="+mn-ea"/>
        <a:cs typeface="Arial" charset="0"/>
      </a:defRPr>
    </a:lvl2pPr>
    <a:lvl3pPr marL="355600" indent="-173038" algn="l" rtl="0" fontAlgn="base">
      <a:spcBef>
        <a:spcPct val="30000"/>
      </a:spcBef>
      <a:spcAft>
        <a:spcPct val="0"/>
      </a:spcAft>
      <a:buFont typeface="Symbol" pitchFamily="18" charset="2"/>
      <a:buChar char="-"/>
      <a:defRPr sz="1200" kern="1200">
        <a:solidFill>
          <a:schemeClr val="tx1"/>
        </a:solidFill>
        <a:latin typeface="+mn-lt"/>
        <a:ea typeface="+mn-ea"/>
        <a:cs typeface="Arial" charset="0"/>
      </a:defRPr>
    </a:lvl3pPr>
    <a:lvl4pPr marL="538163" indent="-182563" algn="l" rtl="0" fontAlgn="base">
      <a:spcBef>
        <a:spcPct val="30000"/>
      </a:spcBef>
      <a:spcAft>
        <a:spcPct val="0"/>
      </a:spcAft>
      <a:buFont typeface="Courier New" pitchFamily="49" charset="0"/>
      <a:buChar char="o"/>
      <a:defRPr sz="1200" kern="1200">
        <a:solidFill>
          <a:schemeClr val="tx1"/>
        </a:solidFill>
        <a:latin typeface="+mn-lt"/>
        <a:ea typeface="+mn-ea"/>
        <a:cs typeface="Arial" charset="0"/>
      </a:defRPr>
    </a:lvl4pPr>
    <a:lvl5pPr marL="720725" indent="-182563" algn="l" rtl="0" fontAlgn="base">
      <a:spcBef>
        <a:spcPct val="30000"/>
      </a:spcBef>
      <a:spcAft>
        <a:spcPct val="0"/>
      </a:spcAft>
      <a:buFont typeface="Wingdings" pitchFamily="2" charset="2"/>
      <a:buChar char="§"/>
      <a:defRPr sz="1200" kern="1200">
        <a:solidFill>
          <a:schemeClr val="tx1"/>
        </a:solidFill>
        <a:latin typeface="+mn-lt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0AFC6D0-44D5-4EB7-828F-6F464F83D79A}" type="slidenum">
              <a:rPr lang="en-GB" smtClean="0"/>
              <a:pPr>
                <a:defRPr/>
              </a:pPr>
              <a:t>1</a:t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ts val="3200"/>
              </a:lnSpc>
              <a:defRPr lang="de-DE" sz="300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Titel der Präsentation durch Klicken bearbeiten</a:t>
            </a:r>
          </a:p>
        </p:txBody>
      </p:sp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chemeClr val="bg1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>
                <a:solidFill>
                  <a:srgbClr val="000000"/>
                </a:solidFill>
              </a:defRPr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6758935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747977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4944894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3642604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123532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435256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9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Inhaltsplatzhalter 2"/>
          <p:cNvSpPr>
            <a:spLocks noGrp="1"/>
          </p:cNvSpPr>
          <p:nvPr>
            <p:ph idx="10" hasCustomPrompt="1"/>
          </p:nvPr>
        </p:nvSpPr>
        <p:spPr>
          <a:xfrm>
            <a:off x="319088" y="1978720"/>
            <a:ext cx="8508999" cy="1274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50000"/>
              </a:lnSpc>
              <a:defRPr lang="de-DE" sz="1600" baseline="0" noProof="0" dirty="0" smtClean="0"/>
            </a:lvl1pPr>
            <a:lvl2pPr>
              <a:defRPr lang="de-DE" noProof="0" dirty="0" smtClean="0"/>
            </a:lvl2pPr>
          </a:lstStyle>
          <a:p>
            <a:pPr lvl="0"/>
            <a:r>
              <a:rPr lang="de-DE" noProof="0" dirty="0"/>
              <a:t>Referent</a:t>
            </a:r>
            <a:br>
              <a:rPr lang="de-DE" noProof="0" dirty="0"/>
            </a:br>
            <a:r>
              <a:rPr lang="de-DE" noProof="0" dirty="0"/>
              <a:t>Ort, Datum (Schreibweise: 00. Januar 2015)</a:t>
            </a:r>
          </a:p>
        </p:txBody>
      </p:sp>
      <p:sp>
        <p:nvSpPr>
          <p:cNvPr id="14" name="Rechteck 13"/>
          <p:cNvSpPr/>
          <p:nvPr userDrawn="1"/>
        </p:nvSpPr>
        <p:spPr bwMode="auto">
          <a:xfrm>
            <a:off x="8347635" y="6408271"/>
            <a:ext cx="575236" cy="358588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1762188"/>
            <a:ext cx="8508999" cy="46995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 lIns="0" rIns="0"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6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" name="Inhaltsplatzhalter 2"/>
          <p:cNvSpPr>
            <a:spLocks noGrp="1"/>
          </p:cNvSpPr>
          <p:nvPr>
            <p:ph idx="1" hasCustomPrompt="1"/>
          </p:nvPr>
        </p:nvSpPr>
        <p:spPr>
          <a:xfrm>
            <a:off x="319090" y="2499360"/>
            <a:ext cx="8508999" cy="3962400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 useBgFill="1"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 useBgFill="1"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 useBgFill="1">
        <p:nvSpPr>
          <p:cNvPr id="6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2183948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Inhaltsplatzhalter 2"/>
          <p:cNvSpPr>
            <a:spLocks noGrp="1"/>
          </p:cNvSpPr>
          <p:nvPr>
            <p:ph idx="14" hasCustomPrompt="1"/>
          </p:nvPr>
        </p:nvSpPr>
        <p:spPr>
          <a:xfrm>
            <a:off x="319091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 baseline="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13" name="Inhaltsplatzhalter 2"/>
          <p:cNvSpPr>
            <a:spLocks noGrp="1"/>
          </p:cNvSpPr>
          <p:nvPr>
            <p:ph idx="15" hasCustomPrompt="1"/>
          </p:nvPr>
        </p:nvSpPr>
        <p:spPr>
          <a:xfrm>
            <a:off x="4647179" y="1762188"/>
            <a:ext cx="4180910" cy="4687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  <a:lvl2pPr>
              <a:lnSpc>
                <a:spcPct val="114000"/>
              </a:lnSpc>
              <a:defRPr lang="de-DE" noProof="0" dirty="0" smtClean="0"/>
            </a:lvl2pPr>
            <a:lvl3pPr>
              <a:defRPr sz="1600"/>
            </a:lvl3pPr>
          </a:lstStyle>
          <a:p>
            <a:pPr lvl="0"/>
            <a:r>
              <a:rPr lang="de-DE" noProof="0" dirty="0"/>
              <a:t>Inhalt durch Klicken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sz="1600" noProof="0" dirty="0"/>
              <a:t>Dritte Ebene</a:t>
            </a:r>
            <a:endParaRPr lang="de-DE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462901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 + Text (Hintergr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 userDrawn="1"/>
        </p:nvSpPr>
        <p:spPr bwMode="auto">
          <a:xfrm>
            <a:off x="0" y="2477139"/>
            <a:ext cx="9144000" cy="438086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r" eaLnBrk="0" hangingPunct="0"/>
            <a:endParaRPr lang="de-DE" sz="1000">
              <a:latin typeface="Arial" pitchFamily="34" charset="0"/>
            </a:endParaRPr>
          </a:p>
        </p:txBody>
      </p:sp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 dirty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8" name="Inhaltsplatzhalter 9"/>
          <p:cNvSpPr>
            <a:spLocks noGrp="1"/>
          </p:cNvSpPr>
          <p:nvPr>
            <p:ph sz="quarter" idx="18"/>
          </p:nvPr>
        </p:nvSpPr>
        <p:spPr>
          <a:xfrm>
            <a:off x="316992" y="2484000"/>
            <a:ext cx="4242816" cy="3974655"/>
          </a:xfrm>
          <a:prstGeom prst="rect">
            <a:avLst/>
          </a:prstGeom>
        </p:spPr>
        <p:txBody>
          <a:bodyPr lIns="0" rIns="0"/>
          <a:lstStyle>
            <a:lvl1pPr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defRPr/>
            </a:lvl2pPr>
            <a:lvl3pPr>
              <a:defRPr sz="1600" baseline="0"/>
            </a:lvl3pPr>
          </a:lstStyle>
          <a:p>
            <a:pPr lvl="0"/>
            <a:r>
              <a:rPr lang="de-DE" dirty="0"/>
              <a:t>Textmasterformate durch Klicken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sz="1600" dirty="0"/>
              <a:t>Dritte Ebene</a:t>
            </a:r>
            <a:endParaRPr lang="de-DE" dirty="0"/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4584192" y="2484120"/>
            <a:ext cx="4244400" cy="397440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10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ße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19089" y="1762188"/>
            <a:ext cx="8508999" cy="7149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14000"/>
              </a:lnSpc>
              <a:defRPr lang="de-DE" noProof="0" dirty="0" smtClean="0"/>
            </a:lvl1pPr>
          </a:lstStyle>
          <a:p>
            <a:pPr lvl="0"/>
            <a:r>
              <a:rPr lang="de-DE" noProof="0"/>
              <a:t>Inhalt durch Klicken bearbeiten</a:t>
            </a:r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2" name="Fußzeilenplatzhalt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 noProof="0"/>
              <a:t>Dr. rer. nat. Erika Mustermann (TUM) | kann beliebig erweitert werden | Infos mit Strich trennen</a:t>
            </a:r>
          </a:p>
        </p:txBody>
      </p:sp>
      <p:sp>
        <p:nvSpPr>
          <p:cNvPr id="9" name="Bildplatzhalter 8"/>
          <p:cNvSpPr>
            <a:spLocks noGrp="1"/>
          </p:cNvSpPr>
          <p:nvPr>
            <p:ph type="pic" sz="quarter" idx="17"/>
          </p:nvPr>
        </p:nvSpPr>
        <p:spPr>
          <a:xfrm>
            <a:off x="0" y="2476500"/>
            <a:ext cx="9144000" cy="4381500"/>
          </a:xfrm>
          <a:prstGeom prst="rect">
            <a:avLst/>
          </a:prstGeom>
        </p:spPr>
        <p:txBody>
          <a:bodyPr/>
          <a:lstStyle/>
          <a:p>
            <a:endParaRPr lang="de-DE"/>
          </a:p>
        </p:txBody>
      </p:sp>
      <p:sp>
        <p:nvSpPr>
          <p:cNvPr id="8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111508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er formatfülle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2"/>
          <p:cNvSpPr>
            <a:spLocks noGrp="1"/>
          </p:cNvSpPr>
          <p:nvPr>
            <p:ph type="pic" sz="quarter" idx="14" hasCustomPrompt="1"/>
          </p:nvPr>
        </p:nvSpPr>
        <p:spPr>
          <a:xfrm>
            <a:off x="0" y="1691640"/>
            <a:ext cx="9144000" cy="5166360"/>
          </a:xfrm>
          <a:prstGeom prst="rect">
            <a:avLst/>
          </a:prstGeom>
        </p:spPr>
        <p:txBody>
          <a:bodyPr/>
          <a:lstStyle>
            <a:lvl1pPr>
              <a:lnSpc>
                <a:spcPct val="114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4103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noProof="0" dirty="0"/>
            </a:lvl1pPr>
          </a:lstStyle>
          <a:p>
            <a:pPr lvl="0"/>
            <a:r>
              <a:rPr lang="de-DE" noProof="0" dirty="0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42579873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ren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5" name="Titel 1"/>
          <p:cNvSpPr>
            <a:spLocks noGrp="1"/>
          </p:cNvSpPr>
          <p:nvPr>
            <p:ph type="title" hasCustomPrompt="1"/>
          </p:nvPr>
        </p:nvSpPr>
        <p:spPr>
          <a:xfrm>
            <a:off x="319090" y="994334"/>
            <a:ext cx="8508999" cy="12311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>
              <a:lnSpc>
                <a:spcPts val="3200"/>
              </a:lnSpc>
              <a:defRPr lang="de-DE" sz="3000" baseline="0" noProof="0" dirty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 noProof="0" dirty="0"/>
              <a:t>Präsentationsmuster</a:t>
            </a:r>
            <a:br>
              <a:rPr lang="de-DE" noProof="0" dirty="0"/>
            </a:br>
            <a:br>
              <a:rPr lang="de-DE" noProof="0" dirty="0"/>
            </a:br>
            <a:r>
              <a:rPr lang="de-DE" noProof="0" dirty="0"/>
              <a:t>kann auch als </a:t>
            </a:r>
            <a:r>
              <a:rPr lang="de-DE" noProof="0" dirty="0" err="1"/>
              <a:t>Kapiteltrenner</a:t>
            </a:r>
            <a:r>
              <a:rPr lang="de-DE" noProof="0" dirty="0"/>
              <a:t> verwendet werden</a:t>
            </a:r>
          </a:p>
        </p:txBody>
      </p:sp>
    </p:spTree>
    <p:extLst>
      <p:ext uri="{BB962C8B-B14F-4D97-AF65-F5344CB8AC3E}">
        <p14:creationId xmlns:p14="http://schemas.microsoft.com/office/powerpoint/2010/main" val="171855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10" Type="http://schemas.openxmlformats.org/officeDocument/2006/relationships/image" Target="../media/image1.wmf"/><Relationship Id="rId4" Type="http://schemas.openxmlformats.org/officeDocument/2006/relationships/slideLayout" Target="../slideLayouts/slideLayout14.xml"/><Relationship Id="rId9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9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ild 8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7829538" cy="384687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sp>
        <p:nvSpPr>
          <p:cNvPr id="11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</p:sldLayoutIdLst>
  <p:hf hdr="0" dt="0"/>
  <p:txStyles>
    <p:titleStyle>
      <a:lvl1pPr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1" fontAlgn="base" hangingPunct="1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1" fontAlgn="base" hangingPunct="1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feld 22"/>
          <p:cNvSpPr txBox="1"/>
          <p:nvPr/>
        </p:nvSpPr>
        <p:spPr>
          <a:xfrm>
            <a:off x="7713330" y="6563283"/>
            <a:ext cx="1115376" cy="193002"/>
          </a:xfrm>
          <a:prstGeom prst="rect">
            <a:avLst/>
          </a:prstGeom>
        </p:spPr>
        <p:txBody>
          <a:bodyPr wrap="square" lIns="0" tIns="0" rIns="0" bIns="0" rtlCol="0" anchor="b" anchorCtr="0">
            <a:spAutoFit/>
          </a:bodyPr>
          <a:lstStyle/>
          <a:p>
            <a:pPr algn="r">
              <a:lnSpc>
                <a:spcPct val="114000"/>
              </a:lnSpc>
            </a:pPr>
            <a:fld id="{C51078C5-4710-4254-8001-F1C0900803FD}" type="slidenum">
              <a:rPr lang="de-DE" sz="1200" smtClean="0">
                <a:latin typeface="+mn-lt"/>
                <a:cs typeface="Arial" pitchFamily="34" charset="0"/>
              </a:rPr>
              <a:pPr algn="r">
                <a:lnSpc>
                  <a:spcPct val="114000"/>
                </a:lnSpc>
              </a:pPr>
              <a:t>‹#›</a:t>
            </a:fld>
            <a:endParaRPr lang="de-DE" sz="1200" dirty="0">
              <a:latin typeface="+mn-lt"/>
              <a:cs typeface="Arial" pitchFamily="34" charset="0"/>
            </a:endParaRPr>
          </a:p>
        </p:txBody>
      </p:sp>
      <p:pic>
        <p:nvPicPr>
          <p:cNvPr id="5" name="Bild 4" descr="Fahnen_HG.jpg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42532" y="0"/>
            <a:ext cx="9185031" cy="6858000"/>
          </a:xfrm>
          <a:prstGeom prst="rect">
            <a:avLst/>
          </a:prstGeom>
        </p:spPr>
      </p:pic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8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noProof="0" smtClean="0"/>
              <a:pPr/>
              <a:t>‹#›</a:t>
            </a:fld>
            <a:endParaRPr lang="de-DE" noProof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  <p:pic>
        <p:nvPicPr>
          <p:cNvPr id="7" name="Bild 6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11" name="Textfeld 10"/>
          <p:cNvSpPr txBox="1"/>
          <p:nvPr userDrawn="1"/>
        </p:nvSpPr>
        <p:spPr>
          <a:xfrm>
            <a:off x="320401" y="314325"/>
            <a:ext cx="7699650" cy="34840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Lehrstuhl für Musterverfahren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TUM School </a:t>
            </a:r>
            <a:r>
              <a:rPr lang="de-DE" sz="800" dirty="0" err="1">
                <a:solidFill>
                  <a:schemeClr val="tx2"/>
                </a:solidFill>
                <a:latin typeface="+mn-lt"/>
              </a:rPr>
              <a:t>of</a:t>
            </a:r>
            <a:r>
              <a:rPr lang="de-DE" sz="800" dirty="0">
                <a:solidFill>
                  <a:schemeClr val="tx2"/>
                </a:solidFill>
                <a:latin typeface="+mn-lt"/>
              </a:rPr>
              <a:t> Mustertechnik</a:t>
            </a:r>
          </a:p>
          <a:p>
            <a:pPr>
              <a:lnSpc>
                <a:spcPct val="94000"/>
              </a:lnSpc>
              <a:tabLst/>
            </a:pPr>
            <a:r>
              <a:rPr lang="de-DE" sz="800" dirty="0">
                <a:solidFill>
                  <a:schemeClr val="tx2"/>
                </a:solidFill>
                <a:latin typeface="+mn-lt"/>
              </a:rPr>
              <a:t>Technische Universität</a:t>
            </a:r>
            <a:r>
              <a:rPr lang="de-DE" sz="800" baseline="0" dirty="0">
                <a:solidFill>
                  <a:schemeClr val="tx2"/>
                </a:solidFill>
                <a:latin typeface="+mn-lt"/>
              </a:rPr>
              <a:t> München</a:t>
            </a:r>
            <a:endParaRPr lang="de-DE" sz="800" dirty="0">
              <a:solidFill>
                <a:schemeClr val="tx2"/>
              </a:solidFill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Bild 2" descr="20150416 tum logo blau png fina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18411" y="324685"/>
            <a:ext cx="608352" cy="320400"/>
          </a:xfrm>
          <a:prstGeom prst="rect">
            <a:avLst/>
          </a:prstGeom>
        </p:spPr>
      </p:pic>
      <p:sp>
        <p:nvSpPr>
          <p:cNvPr id="5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74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6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54" r:id="rId2"/>
    <p:sldLayoutId id="2147483704" r:id="rId3"/>
    <p:sldLayoutId id="2147483657" r:id="rId4"/>
    <p:sldLayoutId id="2147483711" r:id="rId5"/>
    <p:sldLayoutId id="2147483703" r:id="rId6"/>
    <p:sldLayoutId id="2147483653" r:id="rId7"/>
    <p:sldLayoutId id="2147483656" r:id="rId8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eck 5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/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8" y="324650"/>
            <a:ext cx="599723" cy="320400"/>
          </a:xfrm>
          <a:prstGeom prst="rect">
            <a:avLst/>
          </a:prstGeom>
        </p:spPr>
      </p:pic>
      <p:sp>
        <p:nvSpPr>
          <p:cNvPr id="7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8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 bwMode="hidden">
          <a:xfrm>
            <a:off x="0" y="0"/>
            <a:ext cx="9144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Bild 3" descr="20150416 tum logo blau png 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8222627" y="324650"/>
            <a:ext cx="599722" cy="320400"/>
          </a:xfrm>
          <a:prstGeom prst="rect">
            <a:avLst/>
          </a:prstGeom>
        </p:spPr>
      </p:pic>
      <p:sp>
        <p:nvSpPr>
          <p:cNvPr id="9" name="Foliennummernplatzhalter 4"/>
          <p:cNvSpPr>
            <a:spLocks noGrp="1"/>
          </p:cNvSpPr>
          <p:nvPr>
            <p:ph type="sldNum" sz="quarter" idx="4"/>
          </p:nvPr>
        </p:nvSpPr>
        <p:spPr>
          <a:xfrm>
            <a:off x="6774934" y="6473313"/>
            <a:ext cx="20520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CE58CB1E-F828-4F11-99E0-327109AF9DA4}" type="slidenum">
              <a:rPr lang="de-DE" smtClean="0"/>
              <a:pPr/>
              <a:t>‹#›</a:t>
            </a:fld>
            <a:endParaRPr lang="de-DE" dirty="0"/>
          </a:p>
        </p:txBody>
      </p:sp>
      <p:sp>
        <p:nvSpPr>
          <p:cNvPr id="10" name="Fußzeilenplatzhalter 3"/>
          <p:cNvSpPr>
            <a:spLocks noGrp="1"/>
          </p:cNvSpPr>
          <p:nvPr>
            <p:ph type="ftr" sz="quarter" idx="3"/>
          </p:nvPr>
        </p:nvSpPr>
        <p:spPr>
          <a:xfrm>
            <a:off x="311162" y="6473313"/>
            <a:ext cx="646428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de-DE"/>
              <a:t>Dr. rer. nat. Erika Mustermann (TUM) | kann beliebig erweitert werden | Infos mit Strich trennen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</p:sldLayoutIdLst>
  <p:hf hdr="0" dt="0"/>
  <p:txStyles>
    <p:titleStyle>
      <a:lvl1pPr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defRPr sz="2200" b="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176213" indent="-176213" algn="l" rtl="0" eaLnBrk="0" fontAlgn="base" hangingPunct="0">
        <a:lnSpc>
          <a:spcPct val="100000"/>
        </a:lnSpc>
        <a:spcBef>
          <a:spcPct val="0"/>
        </a:spcBef>
        <a:spcAft>
          <a:spcPct val="0"/>
        </a:spcAft>
        <a:buFont typeface="Arial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360363" indent="-18415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38163" indent="-177800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14375" indent="-176213" algn="l" rtl="0" eaLnBrk="0" fontAlgn="base" hangingPunct="0">
        <a:lnSpc>
          <a:spcPct val="125000"/>
        </a:lnSpc>
        <a:spcBef>
          <a:spcPct val="0"/>
        </a:spcBef>
        <a:spcAft>
          <a:spcPct val="0"/>
        </a:spcAft>
        <a:buFont typeface="Symbol" pitchFamily="18" charset="2"/>
        <a:buChar char="-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.xlsx"/><Relationship Id="rId2" Type="http://schemas.openxmlformats.org/officeDocument/2006/relationships/slide" Target="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de-DE" dirty="0"/>
              <a:t>Fang</a:t>
            </a:r>
          </a:p>
          <a:p>
            <a:r>
              <a:rPr lang="de-DE" dirty="0"/>
              <a:t>07. </a:t>
            </a:r>
            <a:r>
              <a:rPr lang="de-DE" dirty="0" err="1"/>
              <a:t>July</a:t>
            </a:r>
            <a:r>
              <a:rPr lang="de-DE" dirty="0"/>
              <a:t> 2026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</a:t>
            </a:r>
            <a:r>
              <a:rPr lang="zh-CN" altLang="en-US" dirty="0"/>
              <a:t> 汇报</a:t>
            </a:r>
            <a:r>
              <a:rPr lang="en-US" altLang="zh-CN" dirty="0"/>
              <a:t>1</a:t>
            </a:r>
            <a:endParaRPr lang="de-DE" dirty="0"/>
          </a:p>
        </p:txBody>
      </p:sp>
      <p:pic>
        <p:nvPicPr>
          <p:cNvPr id="5" name="Bild 4" descr="TUM_Glockenturm.t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7101" y="3051360"/>
            <a:ext cx="3892489" cy="33974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 </a:t>
            </a:r>
            <a:r>
              <a:rPr lang="zh-CN" altLang="en-US" dirty="0"/>
              <a:t>文献阅读</a:t>
            </a:r>
            <a:endParaRPr lang="en-US" altLang="zh-CN" dirty="0"/>
          </a:p>
          <a:p>
            <a:r>
              <a:rPr lang="en-US" altLang="zh-CN" dirty="0">
                <a:solidFill>
                  <a:schemeClr val="bg2"/>
                </a:solidFill>
              </a:rPr>
              <a:t>2. </a:t>
            </a:r>
            <a:r>
              <a:rPr lang="zh-CN" altLang="en-US" dirty="0"/>
              <a:t>数据处理代码学习</a:t>
            </a:r>
            <a:endParaRPr dirty="0"/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目录</a:t>
            </a:r>
            <a:endParaRPr lang="de-DE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 idx="1"/>
          </p:nvPr>
        </p:nvSpPr>
        <p:spPr>
          <a:xfrm>
            <a:off x="299515" y="1357829"/>
            <a:ext cx="8508999" cy="4699572"/>
          </a:xfrm>
        </p:spPr>
        <p:txBody>
          <a:bodyPr/>
          <a:lstStyle/>
          <a:p>
            <a:endParaRPr dirty="0"/>
          </a:p>
          <a:p>
            <a:endParaRPr sz="220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09" y="531549"/>
            <a:ext cx="8508999" cy="410369"/>
          </a:xfrm>
          <a:prstGeom prst="rect">
            <a:avLst/>
          </a:prstGeo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文献阅读</a:t>
            </a:r>
            <a:endParaRPr lang="de-DE" sz="3000" dirty="0">
              <a:solidFill>
                <a:schemeClr val="bg2"/>
              </a:solidFill>
            </a:endParaRPr>
          </a:p>
        </p:txBody>
      </p:sp>
      <p:sp>
        <p:nvSpPr>
          <p:cNvPr id="78" name="Inhaltsplatzhalter 1">
            <a:extLst>
              <a:ext uri="{FF2B5EF4-FFF2-40B4-BE49-F238E27FC236}">
                <a16:creationId xmlns:a16="http://schemas.microsoft.com/office/drawing/2014/main" id="{9021861E-68DE-6267-E700-32CE11E041B6}"/>
              </a:ext>
            </a:extLst>
          </p:cNvPr>
          <p:cNvSpPr txBox="1">
            <a:spLocks/>
          </p:cNvSpPr>
          <p:nvPr/>
        </p:nvSpPr>
        <p:spPr>
          <a:xfrm>
            <a:off x="315661" y="6150445"/>
            <a:ext cx="1018288" cy="345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14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详见</a:t>
            </a:r>
            <a:endParaRPr lang="de-DE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34" name="组合 133">
            <a:extLst>
              <a:ext uri="{FF2B5EF4-FFF2-40B4-BE49-F238E27FC236}">
                <a16:creationId xmlns:a16="http://schemas.microsoft.com/office/drawing/2014/main" id="{F9E4DFA4-0DB5-73F7-6A88-0B97E039A3A5}"/>
              </a:ext>
            </a:extLst>
          </p:cNvPr>
          <p:cNvGrpSpPr/>
          <p:nvPr/>
        </p:nvGrpSpPr>
        <p:grpSpPr>
          <a:xfrm>
            <a:off x="315660" y="1727948"/>
            <a:ext cx="7485311" cy="3912356"/>
            <a:chOff x="315660" y="1727948"/>
            <a:chExt cx="7485311" cy="3912356"/>
          </a:xfrm>
        </p:grpSpPr>
        <p:grpSp>
          <p:nvGrpSpPr>
            <p:cNvPr id="77" name="组合 76">
              <a:extLst>
                <a:ext uri="{FF2B5EF4-FFF2-40B4-BE49-F238E27FC236}">
                  <a16:creationId xmlns:a16="http://schemas.microsoft.com/office/drawing/2014/main" id="{F4FE0774-904F-BE8D-C291-C26EC31946C2}"/>
                </a:ext>
              </a:extLst>
            </p:cNvPr>
            <p:cNvGrpSpPr/>
            <p:nvPr/>
          </p:nvGrpSpPr>
          <p:grpSpPr>
            <a:xfrm>
              <a:off x="315660" y="2073559"/>
              <a:ext cx="7485311" cy="3566745"/>
              <a:chOff x="283065" y="1936399"/>
              <a:chExt cx="6518715" cy="3566745"/>
            </a:xfrm>
          </p:grpSpPr>
          <p:sp>
            <p:nvSpPr>
              <p:cNvPr id="9" name="圆角矩形 8">
                <a:extLst>
                  <a:ext uri="{FF2B5EF4-FFF2-40B4-BE49-F238E27FC236}">
                    <a16:creationId xmlns:a16="http://schemas.microsoft.com/office/drawing/2014/main" id="{02508DB8-495A-C1B3-E714-7D81F634BE23}"/>
                  </a:ext>
                </a:extLst>
              </p:cNvPr>
              <p:cNvSpPr/>
              <p:nvPr/>
            </p:nvSpPr>
            <p:spPr>
              <a:xfrm>
                <a:off x="283065" y="3418029"/>
                <a:ext cx="1162050" cy="502921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6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类型</a:t>
                </a:r>
              </a:p>
            </p:txBody>
          </p:sp>
          <p:sp>
            <p:nvSpPr>
              <p:cNvPr id="12" name="圆角矩形 11">
                <a:extLst>
                  <a:ext uri="{FF2B5EF4-FFF2-40B4-BE49-F238E27FC236}">
                    <a16:creationId xmlns:a16="http://schemas.microsoft.com/office/drawing/2014/main" id="{CCDFDD30-D4F5-BB39-B68F-8021C46AD698}"/>
                  </a:ext>
                </a:extLst>
              </p:cNvPr>
              <p:cNvSpPr/>
              <p:nvPr/>
            </p:nvSpPr>
            <p:spPr>
              <a:xfrm>
                <a:off x="1952661" y="4391279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HMM</a:t>
                </a: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有关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(interaction pattern)</a:t>
                </a:r>
              </a:p>
            </p:txBody>
          </p:sp>
          <p:sp>
            <p:nvSpPr>
              <p:cNvPr id="13" name="圆角矩形 12">
                <a:extLst>
                  <a:ext uri="{FF2B5EF4-FFF2-40B4-BE49-F238E27FC236}">
                    <a16:creationId xmlns:a16="http://schemas.microsoft.com/office/drawing/2014/main" id="{95E87DE6-36DB-8D05-31A3-CE19F988D045}"/>
                  </a:ext>
                </a:extLst>
              </p:cNvPr>
              <p:cNvSpPr/>
              <p:nvPr/>
            </p:nvSpPr>
            <p:spPr>
              <a:xfrm>
                <a:off x="1952661" y="1936399"/>
                <a:ext cx="1325108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数据处理有关</a:t>
                </a:r>
              </a:p>
            </p:txBody>
          </p:sp>
          <p:sp>
            <p:nvSpPr>
              <p:cNvPr id="16" name="圆角矩形 15">
                <a:extLst>
                  <a:ext uri="{FF2B5EF4-FFF2-40B4-BE49-F238E27FC236}">
                    <a16:creationId xmlns:a16="http://schemas.microsoft.com/office/drawing/2014/main" id="{CC72BD16-F6B7-E5B0-E249-048DB93F04CF}"/>
                  </a:ext>
                </a:extLst>
              </p:cNvPr>
              <p:cNvSpPr/>
              <p:nvPr/>
            </p:nvSpPr>
            <p:spPr>
              <a:xfrm>
                <a:off x="5639730" y="2897621"/>
                <a:ext cx="1162050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建模对象</a:t>
                </a:r>
              </a:p>
            </p:txBody>
          </p:sp>
          <p:sp>
            <p:nvSpPr>
              <p:cNvPr id="17" name="圆角矩形 16">
                <a:extLst>
                  <a:ext uri="{FF2B5EF4-FFF2-40B4-BE49-F238E27FC236}">
                    <a16:creationId xmlns:a16="http://schemas.microsoft.com/office/drawing/2014/main" id="{FC45463C-F6F1-80D7-7596-9C85B3292653}"/>
                  </a:ext>
                </a:extLst>
              </p:cNvPr>
              <p:cNvSpPr/>
              <p:nvPr/>
            </p:nvSpPr>
            <p:spPr>
              <a:xfrm>
                <a:off x="5639728" y="3860858"/>
                <a:ext cx="1162050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hlinkClick r:id="rId2" action="ppaction://hlinksldjump"/>
                  </a:rPr>
                  <a:t>建模方法</a:t>
                </a:r>
                <a:endPara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8" name="圆角矩形 17">
                <a:extLst>
                  <a:ext uri="{FF2B5EF4-FFF2-40B4-BE49-F238E27FC236}">
                    <a16:creationId xmlns:a16="http://schemas.microsoft.com/office/drawing/2014/main" id="{78274763-26B9-5B8C-CD62-4CD3CFBBC071}"/>
                  </a:ext>
                </a:extLst>
              </p:cNvPr>
              <p:cNvSpPr/>
              <p:nvPr/>
            </p:nvSpPr>
            <p:spPr>
              <a:xfrm>
                <a:off x="3718930" y="3452482"/>
                <a:ext cx="1162050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Lane</a:t>
                </a:r>
                <a:r>
                  <a:rPr kumimoji="1" lang="zh-CN" altLang="en-US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</a:t>
                </a: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change</a:t>
                </a:r>
              </a:p>
            </p:txBody>
          </p:sp>
          <p:sp>
            <p:nvSpPr>
              <p:cNvPr id="19" name="圆角矩形 18">
                <a:extLst>
                  <a:ext uri="{FF2B5EF4-FFF2-40B4-BE49-F238E27FC236}">
                    <a16:creationId xmlns:a16="http://schemas.microsoft.com/office/drawing/2014/main" id="{5443DDE3-DDF7-A4D0-B522-D756E73DF596}"/>
                  </a:ext>
                </a:extLst>
              </p:cNvPr>
              <p:cNvSpPr/>
              <p:nvPr/>
            </p:nvSpPr>
            <p:spPr>
              <a:xfrm>
                <a:off x="3717436" y="5000224"/>
                <a:ext cx="1162050" cy="502920"/>
              </a:xfrm>
              <a:prstGeom prst="roundRect">
                <a:avLst/>
              </a:prstGeom>
              <a:solidFill>
                <a:schemeClr val="bg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>
                  <a:lnSpc>
                    <a:spcPct val="114000"/>
                  </a:lnSpc>
                </a:pPr>
                <a:r>
                  <a:rPr kumimoji="1" lang="en-US" altLang="zh-CN" sz="12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Car following</a:t>
                </a:r>
                <a:endPara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cxnSp>
            <p:nvCxnSpPr>
              <p:cNvPr id="24" name="直线连接符 23">
                <a:extLst>
                  <a:ext uri="{FF2B5EF4-FFF2-40B4-BE49-F238E27FC236}">
                    <a16:creationId xmlns:a16="http://schemas.microsoft.com/office/drawing/2014/main" id="{92347B0E-C1F0-E758-F217-4BBF511802AD}"/>
                  </a:ext>
                </a:extLst>
              </p:cNvPr>
              <p:cNvCxnSpPr>
                <a:cxnSpLocks/>
                <a:stCxn id="9" idx="3"/>
                <a:endCxn id="12" idx="1"/>
              </p:cNvCxnSpPr>
              <p:nvPr/>
            </p:nvCxnSpPr>
            <p:spPr>
              <a:xfrm>
                <a:off x="1445115" y="3669490"/>
                <a:ext cx="507546" cy="973249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直线连接符 24">
                <a:extLst>
                  <a:ext uri="{FF2B5EF4-FFF2-40B4-BE49-F238E27FC236}">
                    <a16:creationId xmlns:a16="http://schemas.microsoft.com/office/drawing/2014/main" id="{8FB2D8BC-7A40-2CB1-2BCB-22ADDE8F2A5A}"/>
                  </a:ext>
                </a:extLst>
              </p:cNvPr>
              <p:cNvCxnSpPr>
                <a:cxnSpLocks/>
                <a:stCxn id="9" idx="3"/>
                <a:endCxn id="13" idx="1"/>
              </p:cNvCxnSpPr>
              <p:nvPr/>
            </p:nvCxnSpPr>
            <p:spPr>
              <a:xfrm flipV="1">
                <a:off x="1445115" y="2187859"/>
                <a:ext cx="507546" cy="148163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6" name="直线连接符 35">
                <a:extLst>
                  <a:ext uri="{FF2B5EF4-FFF2-40B4-BE49-F238E27FC236}">
                    <a16:creationId xmlns:a16="http://schemas.microsoft.com/office/drawing/2014/main" id="{FF8B5482-6324-5A46-D533-E9AA56CA0392}"/>
                  </a:ext>
                </a:extLst>
              </p:cNvPr>
              <p:cNvCxnSpPr>
                <a:cxnSpLocks/>
                <a:stCxn id="12" idx="3"/>
                <a:endCxn id="18" idx="1"/>
              </p:cNvCxnSpPr>
              <p:nvPr/>
            </p:nvCxnSpPr>
            <p:spPr>
              <a:xfrm flipV="1">
                <a:off x="3277769" y="3703942"/>
                <a:ext cx="441162" cy="938797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39" name="直线连接符 38">
                <a:extLst>
                  <a:ext uri="{FF2B5EF4-FFF2-40B4-BE49-F238E27FC236}">
                    <a16:creationId xmlns:a16="http://schemas.microsoft.com/office/drawing/2014/main" id="{EB548AD2-0942-B56B-126C-241445D10044}"/>
                  </a:ext>
                </a:extLst>
              </p:cNvPr>
              <p:cNvCxnSpPr>
                <a:cxnSpLocks/>
                <a:stCxn id="12" idx="3"/>
                <a:endCxn id="19" idx="1"/>
              </p:cNvCxnSpPr>
              <p:nvPr/>
            </p:nvCxnSpPr>
            <p:spPr>
              <a:xfrm>
                <a:off x="3277769" y="4642739"/>
                <a:ext cx="439667" cy="608945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3" name="直线连接符 42">
                <a:extLst>
                  <a:ext uri="{FF2B5EF4-FFF2-40B4-BE49-F238E27FC236}">
                    <a16:creationId xmlns:a16="http://schemas.microsoft.com/office/drawing/2014/main" id="{4B12856C-ECD7-E279-8E92-6A84D6425EC9}"/>
                  </a:ext>
                </a:extLst>
              </p:cNvPr>
              <p:cNvCxnSpPr>
                <a:cxnSpLocks/>
                <a:stCxn id="18" idx="3"/>
                <a:endCxn id="16" idx="1"/>
              </p:cNvCxnSpPr>
              <p:nvPr/>
            </p:nvCxnSpPr>
            <p:spPr>
              <a:xfrm flipV="1">
                <a:off x="4880980" y="3149081"/>
                <a:ext cx="758750" cy="55486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49" name="直线连接符 48">
                <a:extLst>
                  <a:ext uri="{FF2B5EF4-FFF2-40B4-BE49-F238E27FC236}">
                    <a16:creationId xmlns:a16="http://schemas.microsoft.com/office/drawing/2014/main" id="{38BE81F7-73EB-4952-0D78-7F5815B28B63}"/>
                  </a:ext>
                </a:extLst>
              </p:cNvPr>
              <p:cNvCxnSpPr>
                <a:cxnSpLocks/>
                <a:stCxn id="18" idx="3"/>
                <a:endCxn id="17" idx="1"/>
              </p:cNvCxnSpPr>
              <p:nvPr/>
            </p:nvCxnSpPr>
            <p:spPr>
              <a:xfrm>
                <a:off x="4880980" y="3703942"/>
                <a:ext cx="758748" cy="408376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sp>
          <p:nvSpPr>
            <p:cNvPr id="50" name="圆角矩形 49">
              <a:extLst>
                <a:ext uri="{FF2B5EF4-FFF2-40B4-BE49-F238E27FC236}">
                  <a16:creationId xmlns:a16="http://schemas.microsoft.com/office/drawing/2014/main" id="{DA91C202-F122-1724-3B0E-16F95FE90B5C}"/>
                </a:ext>
              </a:extLst>
            </p:cNvPr>
            <p:cNvSpPr/>
            <p:nvPr/>
          </p:nvSpPr>
          <p:spPr>
            <a:xfrm>
              <a:off x="4259280" y="2490503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annotation</a:t>
              </a:r>
              <a:endParaRPr kumimoji="1" lang="zh-CN" altLang="en-US" sz="1200" dirty="0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51" name="圆角矩形 50">
              <a:extLst>
                <a:ext uri="{FF2B5EF4-FFF2-40B4-BE49-F238E27FC236}">
                  <a16:creationId xmlns:a16="http://schemas.microsoft.com/office/drawing/2014/main" id="{68DAC91F-7507-6056-ACC0-CD0D52D1B0A3}"/>
                </a:ext>
              </a:extLst>
            </p:cNvPr>
            <p:cNvSpPr/>
            <p:nvPr/>
          </p:nvSpPr>
          <p:spPr>
            <a:xfrm>
              <a:off x="4260996" y="1727948"/>
              <a:ext cx="1334359" cy="502920"/>
            </a:xfrm>
            <a:prstGeom prst="roundRect">
              <a:avLst/>
            </a:prstGeom>
            <a:solidFill>
              <a:schemeClr val="bg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4000"/>
                </a:lnSpc>
              </a:pPr>
              <a:r>
                <a:rPr kumimoji="1" lang="zh-CN" altLang="en-US" sz="1200" dirty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实验设计</a:t>
              </a:r>
            </a:p>
          </p:txBody>
        </p:sp>
        <p:cxnSp>
          <p:nvCxnSpPr>
            <p:cNvPr id="53" name="直线连接符 52">
              <a:extLst>
                <a:ext uri="{FF2B5EF4-FFF2-40B4-BE49-F238E27FC236}">
                  <a16:creationId xmlns:a16="http://schemas.microsoft.com/office/drawing/2014/main" id="{5BA271B3-B0E1-5C64-D02A-DC031DFCBFC6}"/>
                </a:ext>
              </a:extLst>
            </p:cNvPr>
            <p:cNvCxnSpPr>
              <a:cxnSpLocks/>
              <a:stCxn id="13" idx="3"/>
              <a:endCxn id="51" idx="1"/>
            </p:cNvCxnSpPr>
            <p:nvPr/>
          </p:nvCxnSpPr>
          <p:spPr>
            <a:xfrm flipV="1">
              <a:off x="3754419" y="1979408"/>
              <a:ext cx="506577" cy="34561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56" name="直线连接符 55">
              <a:extLst>
                <a:ext uri="{FF2B5EF4-FFF2-40B4-BE49-F238E27FC236}">
                  <a16:creationId xmlns:a16="http://schemas.microsoft.com/office/drawing/2014/main" id="{8D71A9EC-AF3F-163C-DBAD-FB1213CAAFEA}"/>
                </a:ext>
              </a:extLst>
            </p:cNvPr>
            <p:cNvCxnSpPr>
              <a:cxnSpLocks/>
              <a:stCxn id="13" idx="3"/>
              <a:endCxn id="50" idx="1"/>
            </p:cNvCxnSpPr>
            <p:nvPr/>
          </p:nvCxnSpPr>
          <p:spPr>
            <a:xfrm>
              <a:off x="3754419" y="2325019"/>
              <a:ext cx="504861" cy="416944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aphicFrame>
        <p:nvGraphicFramePr>
          <p:cNvPr id="138" name="对象 137">
            <a:extLst>
              <a:ext uri="{FF2B5EF4-FFF2-40B4-BE49-F238E27FC236}">
                <a16:creationId xmlns:a16="http://schemas.microsoft.com/office/drawing/2014/main" id="{F5D0FE8A-460F-B16B-F5EC-68EBA0DA094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48281845"/>
              </p:ext>
            </p:extLst>
          </p:nvPr>
        </p:nvGraphicFramePr>
        <p:xfrm>
          <a:off x="586300" y="6097789"/>
          <a:ext cx="9652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showAsIcon="1" r:id="rId3" imgW="965200" imgH="609600" progId="Excel.Sheet.12">
                  <p:embed/>
                </p:oleObj>
              </mc:Choice>
              <mc:Fallback>
                <p:oleObj name="工作表" showAsIcon="1" r:id="rId3" imgW="965200" imgH="60960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586300" y="6097789"/>
                        <a:ext cx="965200" cy="609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19090" y="1164502"/>
            <a:ext cx="8508999" cy="804148"/>
          </a:xfrm>
        </p:spPr>
        <p:txBody>
          <a:bodyPr/>
          <a:lstStyle/>
          <a:p>
            <a:r>
              <a:rPr lang="zh-CN" altLang="en-US" dirty="0"/>
              <a:t>方案一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还是做原来三方交互的论文主题，在实验做完之前，用旧两方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SLC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数据进行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HMM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建模尝试</a:t>
            </a:r>
            <a:endParaRPr lang="zh-CN" altLang="zh-CN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zh-CN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endParaRPr lang="en-US" altLang="zh-CN" dirty="0"/>
          </a:p>
          <a:p>
            <a:endParaRPr lang="de-DE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5" name="Titel 6">
            <a:extLst>
              <a:ext uri="{FF2B5EF4-FFF2-40B4-BE49-F238E27FC236}">
                <a16:creationId xmlns:a16="http://schemas.microsoft.com/office/drawing/2014/main" id="{D0779E96-B086-7E50-E0A8-CFFF12CDA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想法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6" name="Inhaltsplatzhalter 2">
            <a:extLst>
              <a:ext uri="{FF2B5EF4-FFF2-40B4-BE49-F238E27FC236}">
                <a16:creationId xmlns:a16="http://schemas.microsoft.com/office/drawing/2014/main" id="{CCF80A18-F49F-24CE-8E2B-DDB5AEE3A65A}"/>
              </a:ext>
            </a:extLst>
          </p:cNvPr>
          <p:cNvSpPr txBox="1">
            <a:spLocks/>
          </p:cNvSpPr>
          <p:nvPr/>
        </p:nvSpPr>
        <p:spPr>
          <a:xfrm>
            <a:off x="319090" y="2086985"/>
            <a:ext cx="8508999" cy="804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de-DE" sz="16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方案二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不做原定的三方交互论文，直接做新两方数据的论文（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4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场景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MLC+DLC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），按照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HMM+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博弈论建模</a:t>
            </a:r>
            <a:endParaRPr lang="zh-CN" altLang="en-US" kern="100" dirty="0">
              <a:latin typeface="+mn-ea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CN" altLang="en-US" kern="100" dirty="0">
              <a:latin typeface="+mn-ea"/>
              <a:cs typeface="Times New Roman" panose="02020603050405020304" pitchFamily="18" charset="0"/>
            </a:endParaRPr>
          </a:p>
          <a:p>
            <a:endParaRPr lang="zh-CN" altLang="en-US" dirty="0"/>
          </a:p>
          <a:p>
            <a:endParaRPr lang="zh-CN" altLang="en-US" kern="100" dirty="0"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9" name="Inhaltsplatzhalter 2">
            <a:extLst>
              <a:ext uri="{FF2B5EF4-FFF2-40B4-BE49-F238E27FC236}">
                <a16:creationId xmlns:a16="http://schemas.microsoft.com/office/drawing/2014/main" id="{21918B9A-EE5E-F7AD-71D7-5B3A32E77EC8}"/>
              </a:ext>
            </a:extLst>
          </p:cNvPr>
          <p:cNvSpPr txBox="1">
            <a:spLocks/>
          </p:cNvSpPr>
          <p:nvPr/>
        </p:nvSpPr>
        <p:spPr>
          <a:xfrm>
            <a:off x="317500" y="3162718"/>
            <a:ext cx="8508999" cy="1086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de-DE" sz="16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原因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对新两方实验进行原始数据处理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画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gif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图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（人工看视频标注）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+HMM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建模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+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博弈论建模不太可能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8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月做完，且做完这一套流程还要重新进行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3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</a:rPr>
              <a:t>方实验的一整套流程，会时间不够</a:t>
            </a:r>
          </a:p>
          <a:p>
            <a:endParaRPr lang="zh-CN" altLang="en-US" dirty="0"/>
          </a:p>
          <a:p>
            <a:endParaRPr lang="zh-CN" altLang="en-US" kern="100" dirty="0">
              <a:latin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3276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43300" y="1130280"/>
            <a:ext cx="8682366" cy="4248544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1.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文献阅读中数据处理</a:t>
            </a:r>
            <a:r>
              <a:rPr lang="en-US" altLang="zh-CN" dirty="0"/>
              <a:t>+</a:t>
            </a:r>
            <a:r>
              <a:rPr lang="zh-CN" altLang="en-US" dirty="0"/>
              <a:t>代码有关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之前的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实验数据采样频率为多少，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60Hz(60Hz)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吗？所有实验都是吗？（</a:t>
            </a:r>
            <a:r>
              <a:rPr lang="en-US" altLang="zh-CN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10Hz</a:t>
            </a:r>
            <a:r>
              <a:rPr lang="zh-CN" altLang="en-US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对于切分比较好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文件命名含义，比如：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SLCA_V01_F2_D_FULL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，字母命名含义，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one/full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full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两个司机都有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eye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给的数据是已经处理完的数据吗？即都是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zone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之内的有效数据吗，每个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对应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interaction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？是对原始数据用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中提到的哪些代码处理的（</a:t>
            </a:r>
            <a:r>
              <a:rPr lang="de-DE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extract-interactions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？），后续应该不需要再平滑，是直接可用的吗？文献中筛选有效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event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的方法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/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代码（选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0-1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之间的）？（需要一下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readme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中的代码）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个场景中两个受试者是不是分别参与了多次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SLC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交互（其它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csv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  <a:r>
              <a:rPr lang="zh-CN" altLang="en-US" sz="1400" dirty="0">
                <a:solidFill>
                  <a:srgbClr val="FF0000"/>
                </a:solidFill>
              </a:rPr>
              <a:t>是的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？强制变道的那一方变道方向都一致</a:t>
            </a:r>
            <a:r>
              <a:rPr lang="zh-CN" altLang="en-US" sz="1400" dirty="0">
                <a:solidFill>
                  <a:srgbClr val="FF0000"/>
                </a:solidFill>
              </a:rPr>
              <a:t>（是的）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？所有实验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F1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含义一致？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其他实验数据是否能沿用当前数据处理方法？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沿道路方向（当纵向距离）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f0_longitudinal_dist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concat_distance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['F0_s'],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df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['F0_NodeID‘])</a:t>
            </a:r>
            <a:endParaRPr lang="zh-CN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x0 = f0_longitudinal_dist – offset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offset = 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两辆车初始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 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坐标中较小的那个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- 5 m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默认道路宽度为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3.5m</a:t>
            </a:r>
            <a:r>
              <a:rPr lang="zh-CN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，横向距离坐标之后也能这样算吗？</a:t>
            </a:r>
          </a:p>
          <a:p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y0 = </a:t>
            </a:r>
            <a:r>
              <a:rPr lang="en-US" altLang="zh-CN" sz="14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lane_center_map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[F0_LaneID] + F0_LateralDistance</a:t>
            </a:r>
            <a:endParaRPr lang="zh-CN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  <p:sp>
        <p:nvSpPr>
          <p:cNvPr id="2" name="Inhaltsplatzhalter 2">
            <a:extLst>
              <a:ext uri="{FF2B5EF4-FFF2-40B4-BE49-F238E27FC236}">
                <a16:creationId xmlns:a16="http://schemas.microsoft.com/office/drawing/2014/main" id="{E5E328C3-B893-2A27-8281-C5C0417C7A5C}"/>
              </a:ext>
            </a:extLst>
          </p:cNvPr>
          <p:cNvSpPr txBox="1">
            <a:spLocks/>
          </p:cNvSpPr>
          <p:nvPr/>
        </p:nvSpPr>
        <p:spPr>
          <a:xfrm>
            <a:off x="343300" y="5771188"/>
            <a:ext cx="8682366" cy="10705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de-DE" sz="1600" kern="1200" baseline="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76213" indent="-176213" algn="l" rt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charset="0"/>
              <a:buChar char="•"/>
              <a:defRPr lang="de-DE" sz="1600" kern="1200" noProof="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60363" indent="-18415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38163" indent="-177800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14375" indent="-176213" algn="l" rtl="0" eaLnBrk="0" fontAlgn="base" hangingPunct="0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Symbol" pitchFamily="18" charset="2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>
                <a:solidFill>
                  <a:schemeClr val="bg2"/>
                </a:solidFill>
              </a:rPr>
              <a:t>2.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zh-CN" altLang="en-US" dirty="0"/>
              <a:t>新两方实验有关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一方是受试者，另一方是编程好的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还是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HV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？（</a:t>
            </a:r>
            <a:r>
              <a:rPr lang="zh-CN" altLang="en-US" sz="1400" dirty="0">
                <a:solidFill>
                  <a:srgbClr val="FF0000"/>
                </a:solidFill>
              </a:rPr>
              <a:t>受试者知道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）另一方的轨迹是否会因受试者而改变？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多少组数据？实验设计方案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。</a:t>
            </a:r>
            <a:r>
              <a:rPr lang="zh-CN" altLang="en-US" sz="1400" dirty="0">
                <a:solidFill>
                  <a:srgbClr val="FF0000"/>
                </a:solidFill>
              </a:rPr>
              <a:t>一个受试者参与</a:t>
            </a:r>
            <a:r>
              <a:rPr lang="en-US" altLang="zh-CN" sz="1400" dirty="0">
                <a:solidFill>
                  <a:srgbClr val="FF0000"/>
                </a:solidFill>
              </a:rPr>
              <a:t>4x4</a:t>
            </a:r>
            <a:r>
              <a:rPr lang="zh-CN" altLang="en-US" sz="1400" dirty="0">
                <a:solidFill>
                  <a:srgbClr val="FF0000"/>
                </a:solidFill>
              </a:rPr>
              <a:t>个场景，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6084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0"/>
          </p:nvPr>
        </p:nvSpPr>
        <p:spPr>
          <a:xfrm>
            <a:off x="343300" y="1130280"/>
            <a:ext cx="8682366" cy="4442181"/>
          </a:xfrm>
        </p:spPr>
        <p:txBody>
          <a:bodyPr/>
          <a:lstStyle/>
          <a:p>
            <a:r>
              <a:rPr lang="en-US" altLang="zh-CN" dirty="0">
                <a:solidFill>
                  <a:schemeClr val="bg2"/>
                </a:solidFill>
              </a:rPr>
              <a:t>3.</a:t>
            </a:r>
            <a:r>
              <a:rPr lang="zh-CN" altLang="en-US" dirty="0">
                <a:solidFill>
                  <a:schemeClr val="bg2"/>
                </a:solidFill>
              </a:rPr>
              <a:t> </a:t>
            </a:r>
            <a:r>
              <a:rPr lang="en-US" altLang="zh-CN" i="1" dirty="0"/>
              <a:t>Annotation</a:t>
            </a:r>
            <a:r>
              <a:rPr lang="zh-CN" altLang="en-US" i="1" dirty="0"/>
              <a:t>文献</a:t>
            </a:r>
            <a:r>
              <a:rPr lang="en-US" altLang="zh-CN" i="1" dirty="0"/>
              <a:t>+</a:t>
            </a:r>
            <a:r>
              <a:rPr lang="zh-CN" altLang="en-US" i="1" dirty="0"/>
              <a:t>代码有关（若选方案二）</a:t>
            </a:r>
            <a:endParaRPr lang="en-US" altLang="zh-CN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根据实验数据，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应该是变道者吧？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按照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lane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offset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定义，在当前道路左侧时值为负，那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朝右变道时走势应该先往正，再跳变，再趋近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0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吧？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Eye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tracking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数据在代码中不能选择范围，只能双击显示？那人工看视频是用在哪里？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在标注范围的时候有什么规则吗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highlight>
                  <a:srgbClr val="FFFF00"/>
                </a:highlight>
              </a:rPr>
              <a:t>（没）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？比如标注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speed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有变化的段？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如何进行顺序标注？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Titel 6"/>
          <p:cNvSpPr>
            <a:spLocks noGrp="1"/>
          </p:cNvSpPr>
          <p:nvPr>
            <p:ph type="title"/>
          </p:nvPr>
        </p:nvSpPr>
        <p:spPr>
          <a:xfrm>
            <a:off x="319090" y="486759"/>
            <a:ext cx="8508999" cy="410369"/>
          </a:xfrm>
        </p:spPr>
        <p:txBody>
          <a:bodyPr/>
          <a:lstStyle/>
          <a:p>
            <a:r>
              <a:rPr lang="de-DE" dirty="0" err="1">
                <a:solidFill>
                  <a:schemeClr val="bg2"/>
                </a:solidFill>
              </a:rPr>
              <a:t>疑问点</a:t>
            </a:r>
            <a:endParaRPr lang="de-DE" dirty="0">
              <a:solidFill>
                <a:schemeClr val="bg2"/>
              </a:solidFill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5A79345-22CD-9965-195E-AF6434C93B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368" y="2306422"/>
            <a:ext cx="2374900" cy="16256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59DC0850-32A5-1AC3-16EB-AD0E921C7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3434" y="2389721"/>
            <a:ext cx="6214067" cy="18587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8339BF25-F807-B3AC-06D6-CE4A463DBE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6207" y="4740731"/>
            <a:ext cx="1911882" cy="197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11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de-DE" sz="3000" dirty="0" err="1"/>
              <a:t>谢谢</a:t>
            </a:r>
            <a:endParaRPr lang="de-DE" sz="3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876312" y="3018631"/>
            <a:ext cx="1391376" cy="410369"/>
          </a:xfrm>
          <a:prstGeom prst="rect">
            <a:avLst/>
          </a:prstGeom>
        </p:spPr>
        <p:txBody>
          <a:bodyPr/>
          <a:lstStyle/>
          <a:p>
            <a:r>
              <a:rPr lang="de-DE" dirty="0"/>
              <a:t>B</a:t>
            </a:r>
            <a:r>
              <a:rPr lang="de-DE" sz="3000" dirty="0"/>
              <a:t>ackup</a:t>
            </a:r>
          </a:p>
        </p:txBody>
      </p:sp>
    </p:spTree>
    <p:extLst>
      <p:ext uri="{BB962C8B-B14F-4D97-AF65-F5344CB8AC3E}">
        <p14:creationId xmlns:p14="http://schemas.microsoft.com/office/powerpoint/2010/main" val="1395967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58CB1E-F828-4F11-99E0-327109AF9DA4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Titel 2"/>
          <p:cNvSpPr>
            <a:spLocks noGrp="1"/>
          </p:cNvSpPr>
          <p:nvPr>
            <p:ph type="title"/>
          </p:nvPr>
        </p:nvSpPr>
        <p:spPr>
          <a:xfrm>
            <a:off x="318010" y="508671"/>
            <a:ext cx="7930322" cy="410369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>
                <a:solidFill>
                  <a:schemeClr val="bg2"/>
                </a:solidFill>
              </a:rPr>
              <a:t>建模方法对比</a:t>
            </a:r>
            <a:endParaRPr lang="de-DE" sz="3000" dirty="0">
              <a:solidFill>
                <a:schemeClr val="bg2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0903A9A0-62E5-8107-47FA-75D5EE762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59841"/>
              </p:ext>
            </p:extLst>
          </p:nvPr>
        </p:nvGraphicFramePr>
        <p:xfrm>
          <a:off x="315911" y="1178406"/>
          <a:ext cx="8250634" cy="4884976"/>
        </p:xfrm>
        <a:graphic>
          <a:graphicData uri="http://schemas.openxmlformats.org/drawingml/2006/table">
            <a:tbl>
              <a:tblPr firstRow="1" bandRow="1">
                <a:effectLst/>
                <a:tableStyleId>{69C7853C-536D-4A76-A0AE-DD22124D55A5}</a:tableStyleId>
              </a:tblPr>
              <a:tblGrid>
                <a:gridCol w="1028795">
                  <a:extLst>
                    <a:ext uri="{9D8B030D-6E8A-4147-A177-3AD203B41FA5}">
                      <a16:colId xmlns:a16="http://schemas.microsoft.com/office/drawing/2014/main" val="2438368803"/>
                    </a:ext>
                  </a:extLst>
                </a:gridCol>
                <a:gridCol w="1624405">
                  <a:extLst>
                    <a:ext uri="{9D8B030D-6E8A-4147-A177-3AD203B41FA5}">
                      <a16:colId xmlns:a16="http://schemas.microsoft.com/office/drawing/2014/main" val="4034851204"/>
                    </a:ext>
                  </a:extLst>
                </a:gridCol>
                <a:gridCol w="806823">
                  <a:extLst>
                    <a:ext uri="{9D8B030D-6E8A-4147-A177-3AD203B41FA5}">
                      <a16:colId xmlns:a16="http://schemas.microsoft.com/office/drawing/2014/main" val="3490178826"/>
                    </a:ext>
                  </a:extLst>
                </a:gridCol>
                <a:gridCol w="2097741">
                  <a:extLst>
                    <a:ext uri="{9D8B030D-6E8A-4147-A177-3AD203B41FA5}">
                      <a16:colId xmlns:a16="http://schemas.microsoft.com/office/drawing/2014/main" val="2828995981"/>
                    </a:ext>
                  </a:extLst>
                </a:gridCol>
                <a:gridCol w="1825809">
                  <a:extLst>
                    <a:ext uri="{9D8B030D-6E8A-4147-A177-3AD203B41FA5}">
                      <a16:colId xmlns:a16="http://schemas.microsoft.com/office/drawing/2014/main" val="1474258705"/>
                    </a:ext>
                  </a:extLst>
                </a:gridCol>
                <a:gridCol w="867061">
                  <a:extLst>
                    <a:ext uri="{9D8B030D-6E8A-4147-A177-3AD203B41FA5}">
                      <a16:colId xmlns:a16="http://schemas.microsoft.com/office/drawing/2014/main" val="1321018873"/>
                    </a:ext>
                  </a:extLst>
                </a:gridCol>
              </a:tblGrid>
              <a:tr h="542615">
                <a:tc>
                  <a:txBody>
                    <a:bodyPr/>
                    <a:lstStyle/>
                    <a:p>
                      <a:pPr algn="l"/>
                      <a:r>
                        <a:rPr lang="zh-CN" altLang="en-US" sz="14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</a:rPr>
                        <a:t>名称</a:t>
                      </a:r>
                    </a:p>
                  </a:txBody>
                  <a:tcPr anchor="ctr">
                    <a:lnL w="9525" cap="flat" cmpd="sng" algn="ctr">
                      <a:noFill/>
                      <a:prstDash val="soli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核心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状态是否隐藏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优点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局限性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是否适合</a:t>
                      </a:r>
                      <a:r>
                        <a:rPr lang="en-US" altLang="zh-CN" sz="14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MA</a:t>
                      </a:r>
                      <a:endParaRPr lang="zh-CN" altLang="en-US" sz="1400" b="1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1664840"/>
                  </a:ext>
                </a:extLst>
              </a:tr>
              <a:tr h="642145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马尔可夫链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只建模可观测状态之间的转移，假设下一状态只依赖当前状态</a:t>
                      </a:r>
                      <a:endParaRPr lang="en-US" altLang="zh-CN" sz="10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否，可直接观测</a:t>
                      </a:r>
                      <a:endParaRPr lang="en-US" altLang="zh-CN" sz="10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结构最简单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不适合直接做</a:t>
                      </a: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primitive 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segmentation</a:t>
                      </a:r>
                      <a:endParaRPr lang="zh-CN" altLang="en-US" sz="10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❌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7052107"/>
                  </a:ext>
                </a:extLst>
              </a:tr>
              <a:tr h="574534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HMM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隐藏状态按马尔可夫链转移，每个隐藏状态生成观测数据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实现简单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连续多维轨迹表达能力有限；状态数要设定；容易产生短片段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❌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3875303"/>
                  </a:ext>
                </a:extLst>
              </a:tr>
              <a:tr h="642145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de-DE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GMM-HMM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用</a:t>
                      </a:r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GMM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建模</a:t>
                      </a:r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HMM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的连续观测发射分布，更适合轨迹、速度、加速度等连续变量。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适合连续、多维、异质轨迹数据；比离散</a:t>
                      </a:r>
                      <a:r>
                        <a:rPr lang="de-DE" altLang="zh-CN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HMM</a:t>
                      </a:r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更适合驾驶数据；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实现相较简单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需确定状态数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；需要</a:t>
                      </a:r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clustering</a:t>
                      </a:r>
                      <a:endParaRPr lang="zh-CN" altLang="en-US" sz="1000" b="0" kern="1200" baseline="0" dirty="0">
                        <a:ln w="12700"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✅ ✅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（适合作初始尝试）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3479109"/>
                  </a:ext>
                </a:extLst>
              </a:tr>
              <a:tr h="574534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de-DE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HDP-HSMM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HDP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自动学习状态数，</a:t>
                      </a: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HSMM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显式建模每个状态段的持续时间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状态数不必预设；切分稳定；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避免过度碎片化；适合驾驶阶段持续性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模型</a:t>
                      </a:r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复杂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、计算成本高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✅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（后续若有时间可尝试）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9828639"/>
                  </a:ext>
                </a:extLst>
              </a:tr>
              <a:tr h="574534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NHMM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非齐次</a:t>
                      </a:r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HMM，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转移概率随时间或外部变量变化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能解释为什么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pattern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转移；适合研究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interaction</a:t>
                      </a: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evolution</a:t>
                      </a: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mechanism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需确定状态数；实现较复杂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❌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830640"/>
                  </a:ext>
                </a:extLst>
              </a:tr>
              <a:tr h="574534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de-DE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sticky</a:t>
                      </a:r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HDP-HMM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HDP-HMM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加入</a:t>
                      </a:r>
                      <a:r>
                        <a:rPr lang="de-DE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sticky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参数</a:t>
                      </a:r>
                      <a:r>
                        <a:rPr lang="el-GR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κ，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鼓励状态自转移，自动学习全局</a:t>
                      </a:r>
                      <a:r>
                        <a:rPr lang="de-DE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patterns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并减少频繁跳变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自动学习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pattern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数量；适合全局转移矩阵分析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实现复杂；</a:t>
                      </a:r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对输入要求高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❌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8456999"/>
                  </a:ext>
                </a:extLst>
              </a:tr>
              <a:tr h="574534"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de-DE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CHMM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用多条相互耦合的隐藏状态链描述多个车辆</a:t>
                      </a:r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de-DE" altLang="zh-CN" sz="1000" b="0" kern="1200" baseline="0" dirty="0" err="1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agent</a:t>
                      </a: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的行为状态及其相互影响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auto" latinLnBrk="0" hangingPunct="1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比单链</a:t>
                      </a:r>
                      <a:r>
                        <a:rPr lang="de-DE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HMM</a:t>
                      </a: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更适合表达多车互动；可以区分变道车状态和目标车道后车响应状态；能体现相互影响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推断和解释复杂；需要</a:t>
                      </a:r>
                      <a:r>
                        <a:rPr lang="zh-CN" altLang="en-US" sz="1000" b="1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大量数据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fontAlgn="auto"/>
                      <a:r>
                        <a:rPr lang="en-US" altLang="zh-CN" sz="1000" b="0" kern="1200" baseline="0" dirty="0">
                          <a:ln w="12700"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❌</a:t>
                      </a:r>
                      <a:endParaRPr lang="zh-CN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2469880"/>
                  </a:ext>
                </a:extLst>
              </a:tr>
            </a:tbl>
          </a:graphicData>
        </a:graphic>
      </p:graphicFrame>
      <p:sp>
        <p:nvSpPr>
          <p:cNvPr id="5" name="操作按钮: 开始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3E9B0AB6-9F45-E852-A3D3-A1A5A3344266}"/>
              </a:ext>
            </a:extLst>
          </p:cNvPr>
          <p:cNvSpPr/>
          <p:nvPr/>
        </p:nvSpPr>
        <p:spPr>
          <a:xfrm>
            <a:off x="8248331" y="6420900"/>
            <a:ext cx="354330" cy="345932"/>
          </a:xfrm>
          <a:prstGeom prst="actionButtonHome">
            <a:avLst/>
          </a:pr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4000"/>
              </a:lnSpc>
            </a:pP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87486448"/>
      </p:ext>
    </p:extLst>
  </p:cSld>
  <p:clrMapOvr>
    <a:masterClrMapping/>
  </p:clrMapOvr>
</p:sld>
</file>

<file path=ppt/theme/theme1.xml><?xml version="1.0" encoding="utf-8"?>
<a:theme xmlns:a="http://schemas.openxmlformats.org/drawingml/2006/main" name="160104_TUM_Praesentation_p_v1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3AA9884A-113D-4C11-9945-C6A08D921A6E}"/>
    </a:ext>
  </a:extLst>
</a:theme>
</file>

<file path=ppt/theme/theme2.xml><?xml version="1.0" encoding="utf-8"?>
<a:theme xmlns:a="http://schemas.openxmlformats.org/drawingml/2006/main" name="Titel 2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402C367E-F50E-423C-A37C-5A8CABF57FC5}"/>
    </a:ext>
  </a:extLst>
</a:theme>
</file>

<file path=ppt/theme/theme3.xml><?xml version="1.0" encoding="utf-8"?>
<a:theme xmlns:a="http://schemas.openxmlformats.org/drawingml/2006/main" name="Titel 3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5CCDF41C-F6E0-4FD6-99AE-3A51B2B147FF}"/>
    </a:ext>
  </a:extLst>
</a:theme>
</file>

<file path=ppt/theme/theme4.xml><?xml version="1.0" encoding="utf-8"?>
<a:theme xmlns:a="http://schemas.openxmlformats.org/drawingml/2006/main" name="Inhalt">
  <a:themeElements>
    <a:clrScheme name="TUM">
      <a:dk1>
        <a:sysClr val="windowText" lastClr="000000"/>
      </a:dk1>
      <a:lt1>
        <a:sysClr val="window" lastClr="FFFFFF"/>
      </a:lt1>
      <a:dk2>
        <a:srgbClr val="003359"/>
      </a:dk2>
      <a:lt2>
        <a:srgbClr val="0065BD"/>
      </a:lt2>
      <a:accent1>
        <a:srgbClr val="005293"/>
      </a:accent1>
      <a:accent2>
        <a:srgbClr val="64A0C8"/>
      </a:accent2>
      <a:accent3>
        <a:srgbClr val="98C6EA"/>
      </a:accent3>
      <a:accent4>
        <a:srgbClr val="A2AD00"/>
      </a:accent4>
      <a:accent5>
        <a:srgbClr val="E37222"/>
      </a:accent5>
      <a:accent6>
        <a:srgbClr val="DAD7CB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1567C3F1-47A2-4B46-B4FE-8FF264F6166D}"/>
    </a:ext>
  </a:extLst>
</a:theme>
</file>

<file path=ppt/theme/theme5.xml><?xml version="1.0" encoding="utf-8"?>
<a:theme xmlns:a="http://schemas.openxmlformats.org/drawingml/2006/main" name="Kapiteltrenner blau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F07EE733-870D-406F-B5B6-25783610C7BF}"/>
    </a:ext>
  </a:extLst>
</a:theme>
</file>

<file path=ppt/theme/theme6.xml><?xml version="1.0" encoding="utf-8"?>
<a:theme xmlns:a="http://schemas.openxmlformats.org/drawingml/2006/main" name="Kapiteltrenner schwarz">
  <a:themeElements>
    <a:clrScheme name="TUM">
      <a:dk1>
        <a:sysClr val="windowText" lastClr="000000"/>
      </a:dk1>
      <a:lt1>
        <a:sysClr val="window" lastClr="FFFFFF"/>
      </a:lt1>
      <a:dk2>
        <a:srgbClr val="0065BD"/>
      </a:dk2>
      <a:lt2>
        <a:srgbClr val="EEECE1"/>
      </a:lt2>
      <a:accent1>
        <a:srgbClr val="005293"/>
      </a:accent1>
      <a:accent2>
        <a:srgbClr val="98C6EA"/>
      </a:accent2>
      <a:accent3>
        <a:srgbClr val="64A0C8"/>
      </a:accent3>
      <a:accent4>
        <a:srgbClr val="DAD7CB"/>
      </a:accent4>
      <a:accent5>
        <a:srgbClr val="A2AD00"/>
      </a:accent5>
      <a:accent6>
        <a:srgbClr val="E37222"/>
      </a:accent6>
      <a:hlink>
        <a:srgbClr val="0000FF"/>
      </a:hlink>
      <a:folHlink>
        <a:srgbClr val="800080"/>
      </a:folHlink>
    </a:clrScheme>
    <a:fontScheme name="TUM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<a:prstTxWarp prst="textNoShape">
          <a:avLst/>
        </a:prstTxWarp>
        <a:noAutofit/>
      </a:bodyPr>
      <a:lstStyle>
        <a:defPPr>
          <a:lnSpc>
            <a:spcPct val="114000"/>
          </a:lnSpc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lnSpc>
            <a:spcPct val="114000"/>
          </a:lnSpc>
          <a:defRPr sz="1600" dirty="0" err="1" smtClean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äsentation1" id="{2E019856-8A39-4989-9AE1-7C5D0D17D45C}" vid="{B8BECA3F-AAB3-4A25-9CB6-CCBE808D17ED}"/>
    </a:ext>
  </a:extLst>
</a:theme>
</file>

<file path=ppt/theme/theme7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160104_TUM_Praesentation_p_v1</Template>
  <TotalTime>5147</TotalTime>
  <Words>960</Words>
  <Application>Microsoft Macintosh PowerPoint</Application>
  <PresentationFormat>全屏显示(4:3)</PresentationFormat>
  <Paragraphs>115</Paragraphs>
  <Slides>9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5</vt:i4>
      </vt:variant>
      <vt:variant>
        <vt:lpstr>主题</vt:lpstr>
      </vt:variant>
      <vt:variant>
        <vt:i4>6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1" baseType="lpstr">
      <vt:lpstr>Arial</vt:lpstr>
      <vt:lpstr>Calibri</vt:lpstr>
      <vt:lpstr>Courier New</vt:lpstr>
      <vt:lpstr>Symbol</vt:lpstr>
      <vt:lpstr>Wingdings</vt:lpstr>
      <vt:lpstr>160104_TUM_Praesentation_p_v1</vt:lpstr>
      <vt:lpstr>Titel 2</vt:lpstr>
      <vt:lpstr>Titel 3</vt:lpstr>
      <vt:lpstr>Inhalt</vt:lpstr>
      <vt:lpstr>Kapiteltrenner blau</vt:lpstr>
      <vt:lpstr>Kapiteltrenner schwarz</vt:lpstr>
      <vt:lpstr>工作表</vt:lpstr>
      <vt:lpstr>MA 汇报1</vt:lpstr>
      <vt:lpstr>目录</vt:lpstr>
      <vt:lpstr>文献阅读</vt:lpstr>
      <vt:lpstr>想法</vt:lpstr>
      <vt:lpstr>疑问点</vt:lpstr>
      <vt:lpstr>疑问点</vt:lpstr>
      <vt:lpstr>谢谢</vt:lpstr>
      <vt:lpstr>Backup</vt:lpstr>
      <vt:lpstr>建模方法对比</vt:lpstr>
    </vt:vector>
  </TitlesOfParts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huilin fang</dc:creator>
  <cp:lastModifiedBy>huilin fang</cp:lastModifiedBy>
  <cp:revision>16</cp:revision>
  <cp:lastPrinted>2015-07-30T14:04:45Z</cp:lastPrinted>
  <dcterms:created xsi:type="dcterms:W3CDTF">2025-11-09T09:25:35Z</dcterms:created>
  <dcterms:modified xsi:type="dcterms:W3CDTF">2026-07-22T15:12:08Z</dcterms:modified>
</cp:coreProperties>
</file>