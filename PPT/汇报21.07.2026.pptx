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18"/>
  </p:notesMasterIdLst>
  <p:handoutMasterIdLst>
    <p:handoutMasterId r:id="rId19"/>
  </p:handoutMasterIdLst>
  <p:sldIdLst>
    <p:sldId id="355" r:id="rId7"/>
    <p:sldId id="357" r:id="rId8"/>
    <p:sldId id="369" r:id="rId9"/>
    <p:sldId id="414" r:id="rId10"/>
    <p:sldId id="415" r:id="rId11"/>
    <p:sldId id="399" r:id="rId12"/>
    <p:sldId id="370" r:id="rId13"/>
    <p:sldId id="410" r:id="rId14"/>
    <p:sldId id="397" r:id="rId15"/>
    <p:sldId id="413" r:id="rId16"/>
    <p:sldId id="416" r:id="rId17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079" autoAdjust="0"/>
    <p:restoredTop sz="88272" autoAdjust="0"/>
  </p:normalViewPr>
  <p:slideViewPr>
    <p:cSldViewPr snapToGrid="0">
      <p:cViewPr varScale="1">
        <p:scale>
          <a:sx n="119" d="100"/>
          <a:sy n="119" d="100"/>
        </p:scale>
        <p:origin x="6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13/07/2026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13/07/2026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Fang</a:t>
            </a:r>
          </a:p>
          <a:p>
            <a:r>
              <a:rPr lang="en-US" altLang="zh-CN" dirty="0"/>
              <a:t>21</a:t>
            </a:r>
            <a:r>
              <a:rPr lang="de-DE" dirty="0"/>
              <a:t>. </a:t>
            </a:r>
            <a:r>
              <a:rPr lang="de-DE" dirty="0" err="1"/>
              <a:t>July</a:t>
            </a:r>
            <a:r>
              <a:rPr lang="de-DE" dirty="0"/>
              <a:t> 2026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</a:t>
            </a:r>
            <a:r>
              <a:rPr lang="zh-CN" altLang="en-US" dirty="0"/>
              <a:t> 汇报</a:t>
            </a:r>
            <a:r>
              <a:rPr lang="en-US" altLang="zh-CN" dirty="0"/>
              <a:t>3</a:t>
            </a:r>
            <a:endParaRPr lang="de-DE" dirty="0"/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88" y="1978720"/>
            <a:ext cx="8508999" cy="1450280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 </a:t>
            </a:r>
            <a:r>
              <a:rPr lang="zh-CN" altLang="en-US" dirty="0"/>
              <a:t>数据预处理</a:t>
            </a:r>
            <a:endParaRPr lang="en-US" altLang="zh-CN" dirty="0"/>
          </a:p>
          <a:p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zh-CN" altLang="en-US" dirty="0"/>
              <a:t>特征提取</a:t>
            </a:r>
            <a:endParaRPr lang="en-US" altLang="zh-CN" dirty="0"/>
          </a:p>
          <a:p>
            <a:r>
              <a:rPr lang="en-US" altLang="zh-CN" dirty="0">
                <a:solidFill>
                  <a:schemeClr val="bg2"/>
                </a:solidFill>
              </a:rPr>
              <a:t>3.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Eye-tracking</a:t>
            </a:r>
            <a:r>
              <a:rPr lang="zh-CN" altLang="en-US" dirty="0"/>
              <a:t>相关</a:t>
            </a:r>
            <a:endParaRPr lang="en-US" altLang="zh-CN" dirty="0"/>
          </a:p>
          <a:p>
            <a:r>
              <a:rPr lang="en-US" altLang="zh-CN" dirty="0">
                <a:solidFill>
                  <a:schemeClr val="bg2"/>
                </a:solidFill>
              </a:rPr>
              <a:t>4.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zh-CN" altLang="en-US" dirty="0"/>
              <a:t>后续实验要求梳理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目录</a:t>
            </a:r>
            <a:endParaRPr lang="de-DE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99515" y="1357829"/>
            <a:ext cx="8508999" cy="4699572"/>
          </a:xfrm>
        </p:spPr>
        <p:txBody>
          <a:bodyPr/>
          <a:lstStyle/>
          <a:p>
            <a:endParaRPr dirty="0"/>
          </a:p>
          <a:p>
            <a:endParaRPr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数据预处理</a:t>
            </a:r>
            <a:r>
              <a:rPr lang="zh-CN" altLang="en-US" dirty="0">
                <a:solidFill>
                  <a:schemeClr val="bg2"/>
                </a:solidFill>
              </a:rPr>
              <a:t>（新增）</a:t>
            </a:r>
            <a:endParaRPr lang="de-DE" sz="3000" dirty="0">
              <a:solidFill>
                <a:schemeClr val="bg2"/>
              </a:solidFill>
            </a:endParaRP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8D1BCF5F-3DB5-99A6-67A0-C129982A1096}"/>
              </a:ext>
            </a:extLst>
          </p:cNvPr>
          <p:cNvGrpSpPr/>
          <p:nvPr/>
        </p:nvGrpSpPr>
        <p:grpSpPr>
          <a:xfrm>
            <a:off x="335486" y="1685803"/>
            <a:ext cx="5294960" cy="3533340"/>
            <a:chOff x="335486" y="1685803"/>
            <a:chExt cx="5294960" cy="3533340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0BBA0A3D-764A-0DFF-2CF0-13B0A01D3146}"/>
                </a:ext>
              </a:extLst>
            </p:cNvPr>
            <p:cNvGrpSpPr/>
            <p:nvPr/>
          </p:nvGrpSpPr>
          <p:grpSpPr>
            <a:xfrm>
              <a:off x="335486" y="2069579"/>
              <a:ext cx="5294960" cy="3149564"/>
              <a:chOff x="335486" y="2069579"/>
              <a:chExt cx="5294960" cy="3149564"/>
            </a:xfrm>
          </p:grpSpPr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F4FE0774-904F-BE8D-C291-C26EC31946C2}"/>
                  </a:ext>
                </a:extLst>
              </p:cNvPr>
              <p:cNvGrpSpPr/>
              <p:nvPr/>
            </p:nvGrpSpPr>
            <p:grpSpPr>
              <a:xfrm>
                <a:off x="335486" y="2069579"/>
                <a:ext cx="3451253" cy="1825573"/>
                <a:chOff x="300331" y="1932419"/>
                <a:chExt cx="3005584" cy="1825573"/>
              </a:xfrm>
            </p:grpSpPr>
            <p:sp>
              <p:nvSpPr>
                <p:cNvPr id="9" name="圆角矩形 8">
                  <a:extLst>
                    <a:ext uri="{FF2B5EF4-FFF2-40B4-BE49-F238E27FC236}">
                      <a16:creationId xmlns:a16="http://schemas.microsoft.com/office/drawing/2014/main" id="{02508DB8-495A-C1B3-E714-7D81F634BE23}"/>
                    </a:ext>
                  </a:extLst>
                </p:cNvPr>
                <p:cNvSpPr/>
                <p:nvPr/>
              </p:nvSpPr>
              <p:spPr>
                <a:xfrm>
                  <a:off x="300331" y="3255071"/>
                  <a:ext cx="1162050" cy="502921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linkClick r:id="rId2" action="ppaction://hlinksldjump"/>
                    </a:rPr>
                    <a:t>DLC</a:t>
                  </a:r>
                  <a:r>
                    <a: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linkClick r:id="rId2" action="ppaction://hlinksldjump"/>
                    </a:rPr>
                    <a:t>交互窗口确定</a:t>
                  </a:r>
                  <a:endPara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3" name="圆角矩形 12">
                  <a:extLst>
                    <a:ext uri="{FF2B5EF4-FFF2-40B4-BE49-F238E27FC236}">
                      <a16:creationId xmlns:a16="http://schemas.microsoft.com/office/drawing/2014/main" id="{95E87DE6-36DB-8D05-31A3-CE19F988D045}"/>
                    </a:ext>
                  </a:extLst>
                </p:cNvPr>
                <p:cNvSpPr/>
                <p:nvPr/>
              </p:nvSpPr>
              <p:spPr>
                <a:xfrm>
                  <a:off x="1980807" y="1932419"/>
                  <a:ext cx="1325108" cy="502920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zh-CN" altLang="en-U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重构</a:t>
                  </a:r>
                  <a:r>
                    <a:rPr kumimoji="1" lang="de-DE" altLang="zh-CN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DLC</a:t>
                  </a:r>
                  <a:r>
                    <a:rPr kumimoji="1" lang="zh-CN" altLang="de-DE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坐标系</a:t>
                  </a:r>
                  <a:endPara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cxnSp>
              <p:nvCxnSpPr>
                <p:cNvPr id="25" name="直线连接符 24">
                  <a:extLst>
                    <a:ext uri="{FF2B5EF4-FFF2-40B4-BE49-F238E27FC236}">
                      <a16:creationId xmlns:a16="http://schemas.microsoft.com/office/drawing/2014/main" id="{8FB2D8BC-7A40-2CB1-2BCB-22ADDE8F2A5A}"/>
                    </a:ext>
                  </a:extLst>
                </p:cNvPr>
                <p:cNvCxnSpPr>
                  <a:cxnSpLocks/>
                  <a:stCxn id="9" idx="3"/>
                  <a:endCxn id="13" idx="1"/>
                </p:cNvCxnSpPr>
                <p:nvPr/>
              </p:nvCxnSpPr>
              <p:spPr>
                <a:xfrm flipV="1">
                  <a:off x="1462381" y="2183879"/>
                  <a:ext cx="518426" cy="1322653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8CCCA316-C084-BD47-712E-D9E9E1201A7A}"/>
                  </a:ext>
                </a:extLst>
              </p:cNvPr>
              <p:cNvCxnSpPr>
                <a:cxnSpLocks/>
                <a:stCxn id="9" idx="3"/>
                <a:endCxn id="15" idx="1"/>
              </p:cNvCxnSpPr>
              <p:nvPr/>
            </p:nvCxnSpPr>
            <p:spPr>
              <a:xfrm>
                <a:off x="1669845" y="3643692"/>
                <a:ext cx="597015" cy="844235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A757FE94-BCA1-D452-DA2B-31348FFBCF14}"/>
                  </a:ext>
                </a:extLst>
              </p:cNvPr>
              <p:cNvSpPr/>
              <p:nvPr/>
            </p:nvSpPr>
            <p:spPr>
              <a:xfrm>
                <a:off x="2266860" y="4236467"/>
                <a:ext cx="151987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检测 </a:t>
                </a:r>
                <a:r>
                  <a:rPr kumimoji="1" lang="de-DE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interaction</a:t>
                </a:r>
                <a:r>
                  <a:rPr kumimoji="1" lang="de-DE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end time</a:t>
                </a:r>
              </a:p>
            </p:txBody>
          </p:sp>
          <p:cxnSp>
            <p:nvCxnSpPr>
              <p:cNvPr id="46" name="直线连接符 45">
                <a:extLst>
                  <a:ext uri="{FF2B5EF4-FFF2-40B4-BE49-F238E27FC236}">
                    <a16:creationId xmlns:a16="http://schemas.microsoft.com/office/drawing/2014/main" id="{714C3AE7-5FA2-300F-77D6-118726C7EEFB}"/>
                  </a:ext>
                </a:extLst>
              </p:cNvPr>
              <p:cNvCxnSpPr>
                <a:cxnSpLocks/>
                <a:stCxn id="15" idx="3"/>
                <a:endCxn id="59" idx="1"/>
              </p:cNvCxnSpPr>
              <p:nvPr/>
            </p:nvCxnSpPr>
            <p:spPr>
              <a:xfrm flipV="1">
                <a:off x="3786738" y="3985007"/>
                <a:ext cx="509349" cy="50292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" name="直线连接符 46">
                <a:extLst>
                  <a:ext uri="{FF2B5EF4-FFF2-40B4-BE49-F238E27FC236}">
                    <a16:creationId xmlns:a16="http://schemas.microsoft.com/office/drawing/2014/main" id="{30991BC4-A6FC-3C77-BB0B-EE74E4D1C0D2}"/>
                  </a:ext>
                </a:extLst>
              </p:cNvPr>
              <p:cNvCxnSpPr>
                <a:cxnSpLocks/>
                <a:stCxn id="15" idx="3"/>
                <a:endCxn id="58" idx="1"/>
              </p:cNvCxnSpPr>
              <p:nvPr/>
            </p:nvCxnSpPr>
            <p:spPr>
              <a:xfrm>
                <a:off x="3786738" y="4487927"/>
                <a:ext cx="509349" cy="479756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58" name="圆角矩形 57">
                <a:extLst>
                  <a:ext uri="{FF2B5EF4-FFF2-40B4-BE49-F238E27FC236}">
                    <a16:creationId xmlns:a16="http://schemas.microsoft.com/office/drawing/2014/main" id="{376E14DD-339B-6FB3-E057-F748F9BCCB37}"/>
                  </a:ext>
                </a:extLst>
              </p:cNvPr>
              <p:cNvSpPr/>
              <p:nvPr/>
            </p:nvSpPr>
            <p:spPr>
              <a:xfrm>
                <a:off x="4296087" y="4716223"/>
                <a:ext cx="1334359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方法</a:t>
                </a:r>
                <a:endPara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9" name="圆角矩形 58">
                <a:extLst>
                  <a:ext uri="{FF2B5EF4-FFF2-40B4-BE49-F238E27FC236}">
                    <a16:creationId xmlns:a16="http://schemas.microsoft.com/office/drawing/2014/main" id="{6942EF72-D0B0-11FB-6788-69F4D1689E38}"/>
                  </a:ext>
                </a:extLst>
              </p:cNvPr>
              <p:cNvSpPr/>
              <p:nvPr/>
            </p:nvSpPr>
            <p:spPr>
              <a:xfrm>
                <a:off x="4296087" y="3733547"/>
                <a:ext cx="1334359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挑战点</a:t>
                </a:r>
                <a:endPara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72" name="圆角矩形 71">
              <a:extLst>
                <a:ext uri="{FF2B5EF4-FFF2-40B4-BE49-F238E27FC236}">
                  <a16:creationId xmlns:a16="http://schemas.microsoft.com/office/drawing/2014/main" id="{BEC834E0-2ED8-2E3B-9BD5-B5E07F7ED28F}"/>
                </a:ext>
              </a:extLst>
            </p:cNvPr>
            <p:cNvSpPr/>
            <p:nvPr/>
          </p:nvSpPr>
          <p:spPr>
            <a:xfrm>
              <a:off x="4245517" y="1685803"/>
              <a:ext cx="1334359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挑战点</a:t>
              </a:r>
              <a:endPara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3" name="圆角矩形 72">
              <a:extLst>
                <a:ext uri="{FF2B5EF4-FFF2-40B4-BE49-F238E27FC236}">
                  <a16:creationId xmlns:a16="http://schemas.microsoft.com/office/drawing/2014/main" id="{789E1F02-D9B1-A79A-F361-5D17767B044B}"/>
                </a:ext>
              </a:extLst>
            </p:cNvPr>
            <p:cNvSpPr/>
            <p:nvPr/>
          </p:nvSpPr>
          <p:spPr>
            <a:xfrm>
              <a:off x="4245517" y="2409711"/>
              <a:ext cx="1334359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方法</a:t>
              </a:r>
            </a:p>
          </p:txBody>
        </p: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6D9CE8A3-51FF-108F-5905-D582DF088669}"/>
                </a:ext>
              </a:extLst>
            </p:cNvPr>
            <p:cNvCxnSpPr>
              <a:cxnSpLocks/>
              <a:stCxn id="13" idx="3"/>
              <a:endCxn id="72" idx="1"/>
            </p:cNvCxnSpPr>
            <p:nvPr/>
          </p:nvCxnSpPr>
          <p:spPr>
            <a:xfrm flipV="1">
              <a:off x="3786738" y="1937263"/>
              <a:ext cx="458779" cy="38377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5F16553D-BE47-C574-8084-174C57059534}"/>
                </a:ext>
              </a:extLst>
            </p:cNvPr>
            <p:cNvCxnSpPr>
              <a:cxnSpLocks/>
              <a:stCxn id="13" idx="3"/>
              <a:endCxn id="73" idx="1"/>
            </p:cNvCxnSpPr>
            <p:nvPr/>
          </p:nvCxnSpPr>
          <p:spPr>
            <a:xfrm>
              <a:off x="3786738" y="2321039"/>
              <a:ext cx="458779" cy="34013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99515" y="1357829"/>
            <a:ext cx="8508999" cy="987338"/>
          </a:xfrm>
        </p:spPr>
        <p:txBody>
          <a:bodyPr/>
          <a:lstStyle/>
          <a:p>
            <a:endParaRPr dirty="0"/>
          </a:p>
          <a:p>
            <a:endParaRPr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特征提取</a:t>
            </a:r>
            <a:endParaRPr lang="de-DE" sz="3000" dirty="0">
              <a:solidFill>
                <a:schemeClr val="bg2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9B3463C-5B93-D7A5-25AB-229E2600140D}"/>
              </a:ext>
            </a:extLst>
          </p:cNvPr>
          <p:cNvSpPr txBox="1">
            <a:spLocks/>
          </p:cNvSpPr>
          <p:nvPr/>
        </p:nvSpPr>
        <p:spPr>
          <a:xfrm>
            <a:off x="230817" y="1194828"/>
            <a:ext cx="8682366" cy="83836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zh-CN" altLang="en-US" dirty="0"/>
              <a:t>方案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60Hz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：计算并提取两车的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x_main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y_main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下采样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10Hz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适合建模）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两车的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x_main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y_main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CC55286-5A02-BA97-DE60-3A9519E64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14644"/>
              </p:ext>
            </p:extLst>
          </p:nvPr>
        </p:nvGraphicFramePr>
        <p:xfrm>
          <a:off x="318010" y="2900659"/>
          <a:ext cx="6330215" cy="1118381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905341">
                  <a:extLst>
                    <a:ext uri="{9D8B030D-6E8A-4147-A177-3AD203B41FA5}">
                      <a16:colId xmlns:a16="http://schemas.microsoft.com/office/drawing/2014/main" val="3490178826"/>
                    </a:ext>
                  </a:extLst>
                </a:gridCol>
                <a:gridCol w="998402">
                  <a:extLst>
                    <a:ext uri="{9D8B030D-6E8A-4147-A177-3AD203B41FA5}">
                      <a16:colId xmlns:a16="http://schemas.microsoft.com/office/drawing/2014/main" val="2205978506"/>
                    </a:ext>
                  </a:extLst>
                </a:gridCol>
                <a:gridCol w="1183678">
                  <a:extLst>
                    <a:ext uri="{9D8B030D-6E8A-4147-A177-3AD203B41FA5}">
                      <a16:colId xmlns:a16="http://schemas.microsoft.com/office/drawing/2014/main" val="2229381209"/>
                    </a:ext>
                  </a:extLst>
                </a:gridCol>
                <a:gridCol w="651391">
                  <a:extLst>
                    <a:ext uri="{9D8B030D-6E8A-4147-A177-3AD203B41FA5}">
                      <a16:colId xmlns:a16="http://schemas.microsoft.com/office/drawing/2014/main" val="2828995981"/>
                    </a:ext>
                  </a:extLst>
                </a:gridCol>
                <a:gridCol w="1910364">
                  <a:extLst>
                    <a:ext uri="{9D8B030D-6E8A-4147-A177-3AD203B41FA5}">
                      <a16:colId xmlns:a16="http://schemas.microsoft.com/office/drawing/2014/main" val="1474258705"/>
                    </a:ext>
                  </a:extLst>
                </a:gridCol>
                <a:gridCol w="681039">
                  <a:extLst>
                    <a:ext uri="{9D8B030D-6E8A-4147-A177-3AD203B41FA5}">
                      <a16:colId xmlns:a16="http://schemas.microsoft.com/office/drawing/2014/main" val="239495899"/>
                    </a:ext>
                  </a:extLst>
                </a:gridCol>
              </a:tblGrid>
              <a:tr h="32931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Max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Median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393899"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15.4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  <a:tr h="395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20.2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70917"/>
                  </a:ext>
                </a:extLst>
              </a:tr>
            </a:tbl>
          </a:graphicData>
        </a:graphic>
      </p:graphicFrame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4C7963-280E-1AC2-F5AE-2552EB5DA673}"/>
              </a:ext>
            </a:extLst>
          </p:cNvPr>
          <p:cNvSpPr txBox="1">
            <a:spLocks/>
          </p:cNvSpPr>
          <p:nvPr/>
        </p:nvSpPr>
        <p:spPr>
          <a:xfrm>
            <a:off x="230817" y="2033196"/>
            <a:ext cx="8682366" cy="109237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 </a:t>
            </a:r>
            <a:r>
              <a:rPr lang="zh-CN" altLang="en-US" dirty="0"/>
              <a:t>统计结果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DLC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trimmed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interaction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window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duration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10Hz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265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99515" y="1357829"/>
            <a:ext cx="8508999" cy="3386293"/>
          </a:xfrm>
        </p:spPr>
        <p:txBody>
          <a:bodyPr/>
          <a:lstStyle/>
          <a:p>
            <a:endParaRPr dirty="0"/>
          </a:p>
          <a:p>
            <a:endParaRPr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r>
              <a:rPr lang="zh-CN" altLang="en-US" dirty="0">
                <a:solidFill>
                  <a:schemeClr val="bg2"/>
                </a:solidFill>
              </a:rPr>
              <a:t>相关</a:t>
            </a:r>
            <a:endParaRPr lang="de-DE" sz="3000" dirty="0">
              <a:solidFill>
                <a:schemeClr val="bg2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CE32FC6-6A6D-7516-F326-E4FCC88BA2A5}"/>
              </a:ext>
            </a:extLst>
          </p:cNvPr>
          <p:cNvGrpSpPr/>
          <p:nvPr/>
        </p:nvGrpSpPr>
        <p:grpSpPr>
          <a:xfrm>
            <a:off x="335486" y="1608989"/>
            <a:ext cx="4650045" cy="2797347"/>
            <a:chOff x="335486" y="2187148"/>
            <a:chExt cx="4650045" cy="2797347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BFE4028-797B-C814-FE08-41E446B19C6C}"/>
                </a:ext>
              </a:extLst>
            </p:cNvPr>
            <p:cNvGrpSpPr/>
            <p:nvPr/>
          </p:nvGrpSpPr>
          <p:grpSpPr>
            <a:xfrm>
              <a:off x="335486" y="2187148"/>
              <a:ext cx="4650045" cy="1708004"/>
              <a:chOff x="300331" y="2049988"/>
              <a:chExt cx="4049573" cy="1708004"/>
            </a:xfrm>
          </p:grpSpPr>
          <p:sp>
            <p:nvSpPr>
              <p:cNvPr id="23" name="圆角矩形 22">
                <a:extLst>
                  <a:ext uri="{FF2B5EF4-FFF2-40B4-BE49-F238E27FC236}">
                    <a16:creationId xmlns:a16="http://schemas.microsoft.com/office/drawing/2014/main" id="{A4A655CC-E7A0-89B3-EB1C-5A0D7611A05A}"/>
                  </a:ext>
                </a:extLst>
              </p:cNvPr>
              <p:cNvSpPr/>
              <p:nvPr/>
            </p:nvSpPr>
            <p:spPr>
              <a:xfrm>
                <a:off x="300331" y="3255071"/>
                <a:ext cx="1565360" cy="502921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Eye-tracking</a:t>
                </a:r>
                <a:r>
                  <a:rPr kumimoji="1"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相关</a:t>
                </a:r>
              </a:p>
            </p:txBody>
          </p:sp>
          <p:sp>
            <p:nvSpPr>
              <p:cNvPr id="26" name="圆角矩形 25">
                <a:extLst>
                  <a:ext uri="{FF2B5EF4-FFF2-40B4-BE49-F238E27FC236}">
                    <a16:creationId xmlns:a16="http://schemas.microsoft.com/office/drawing/2014/main" id="{7758FB64-0036-1731-D348-6D73D9ADA80A}"/>
                  </a:ext>
                </a:extLst>
              </p:cNvPr>
              <p:cNvSpPr/>
              <p:nvPr/>
            </p:nvSpPr>
            <p:spPr>
              <a:xfrm>
                <a:off x="3024796" y="3232903"/>
                <a:ext cx="132510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hlinkClick r:id="rId2" action="ppaction://hlinksldjump"/>
                  </a:rPr>
                  <a:t>设计</a:t>
                </a: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hlinkClick r:id="rId2" action="ppaction://hlinksldjump"/>
                  </a:rPr>
                  <a:t>subjects</a:t>
                </a: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hlinkClick r:id="rId2" action="ppaction://hlinksldjump"/>
                  </a:rPr>
                  <a:t> </a:t>
                </a: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hlinkClick r:id="rId2" action="ppaction://hlinksldjump"/>
                  </a:rPr>
                  <a:t>+</a:t>
                </a: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hlinkClick r:id="rId2" action="ppaction://hlinksldjump"/>
                  </a:rPr>
                  <a:t> </a:t>
                </a:r>
                <a:r>
                  <a:rPr kumimoji="1" lang="de-DE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hlinkClick r:id="rId2" action="ppaction://hlinksldjump"/>
                  </a:rPr>
                  <a:t>Ethogram</a:t>
                </a:r>
                <a:endPara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7" name="圆角矩形 26">
                <a:extLst>
                  <a:ext uri="{FF2B5EF4-FFF2-40B4-BE49-F238E27FC236}">
                    <a16:creationId xmlns:a16="http://schemas.microsoft.com/office/drawing/2014/main" id="{775A401B-C10E-D65D-3658-571EAFAD6C50}"/>
                  </a:ext>
                </a:extLst>
              </p:cNvPr>
              <p:cNvSpPr/>
              <p:nvPr/>
            </p:nvSpPr>
            <p:spPr>
              <a:xfrm>
                <a:off x="3024796" y="2049988"/>
                <a:ext cx="132510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重新命名视频</a:t>
                </a:r>
              </a:p>
            </p:txBody>
          </p: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2EADD003-43B8-F673-773B-0137F17656A6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 flipV="1">
                <a:off x="1865691" y="3484363"/>
                <a:ext cx="1159105" cy="22169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直线连接符 30">
                <a:extLst>
                  <a:ext uri="{FF2B5EF4-FFF2-40B4-BE49-F238E27FC236}">
                    <a16:creationId xmlns:a16="http://schemas.microsoft.com/office/drawing/2014/main" id="{579E5639-B914-E348-D327-5AF6EAF99B21}"/>
                  </a:ext>
                </a:extLst>
              </p:cNvPr>
              <p:cNvCxnSpPr>
                <a:cxnSpLocks/>
                <a:stCxn id="23" idx="3"/>
                <a:endCxn id="27" idx="1"/>
              </p:cNvCxnSpPr>
              <p:nvPr/>
            </p:nvCxnSpPr>
            <p:spPr>
              <a:xfrm flipV="1">
                <a:off x="1865691" y="2301448"/>
                <a:ext cx="1159105" cy="1205084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599D8D6F-84B9-E18D-B5D4-FA1B3C7C644F}"/>
                </a:ext>
              </a:extLst>
            </p:cNvPr>
            <p:cNvCxnSpPr>
              <a:cxnSpLocks/>
              <a:stCxn id="23" idx="3"/>
              <a:endCxn id="16" idx="1"/>
            </p:cNvCxnSpPr>
            <p:nvPr/>
          </p:nvCxnSpPr>
          <p:spPr>
            <a:xfrm>
              <a:off x="2132958" y="3643692"/>
              <a:ext cx="1332695" cy="108934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5322E1C3-DD93-08DD-9995-2C2C05ACA8CC}"/>
                </a:ext>
              </a:extLst>
            </p:cNvPr>
            <p:cNvSpPr/>
            <p:nvPr/>
          </p:nvSpPr>
          <p:spPr>
            <a:xfrm>
              <a:off x="3465653" y="4481575"/>
              <a:ext cx="1519878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标注尝试</a:t>
              </a:r>
              <a:endPara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268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5911" y="943611"/>
            <a:ext cx="8682366" cy="5005368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DLC </a:t>
            </a:r>
            <a:r>
              <a:rPr lang="de-DE" altLang="zh-CN" dirty="0"/>
              <a:t>Interaction </a:t>
            </a:r>
            <a:r>
              <a:rPr lang="de-DE" altLang="zh-CN" dirty="0" err="1"/>
              <a:t>window</a:t>
            </a:r>
            <a:r>
              <a:rPr lang="zh-CN" altLang="en-US" dirty="0"/>
              <a:t> </a:t>
            </a:r>
            <a:r>
              <a:rPr lang="en-US" altLang="zh-CN" dirty="0"/>
              <a:t>trimmed</a:t>
            </a:r>
            <a:r>
              <a:rPr lang="zh-CN" altLang="de-DE" dirty="0"/>
              <a:t>有关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P01_AV2_2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场景，提取结果看出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AV2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在变道时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一直左右横摆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？视频里也发现同样问题，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看的其它几个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也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这样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，是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故意设计的吗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？这种数据是否算有效？</a:t>
            </a:r>
            <a:r>
              <a:rPr lang="zh-CN" altLang="en-US" sz="1400" dirty="0">
                <a:solidFill>
                  <a:srgbClr val="FF0000"/>
                </a:solidFill>
              </a:rPr>
              <a:t>看一下横摆数据多吗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交互开始点当时是设计成两车纵向间距为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80m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左右时吗？</a:t>
            </a:r>
            <a:r>
              <a:rPr lang="zh-CN" altLang="en-US" sz="1400" dirty="0">
                <a:solidFill>
                  <a:srgbClr val="FF0000"/>
                </a:solidFill>
              </a:rPr>
              <a:t>要计算下</a:t>
            </a:r>
            <a:endParaRPr lang="en-US" altLang="zh-CN" sz="1400" dirty="0">
              <a:solidFill>
                <a:srgbClr val="FF0000"/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zh-CN" altLang="en-US" dirty="0"/>
              <a:t>特征数据筛选有关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DLC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变道场景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设计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的不是相邻两车道吗？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P08_AV1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，一开始受试者为何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）右边两车道（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，应该删除该数据吧？</a:t>
            </a:r>
            <a:r>
              <a:rPr lang="zh-CN" altLang="en-US" sz="1400" dirty="0">
                <a:solidFill>
                  <a:srgbClr val="FF0000"/>
                </a:solidFill>
              </a:rPr>
              <a:t>删除</a:t>
            </a:r>
            <a:endParaRPr lang="en-US" altLang="zh-CN" sz="1400" dirty="0">
              <a:solidFill>
                <a:srgbClr val="FF0000"/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3.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Eye-tracking</a:t>
            </a:r>
            <a:r>
              <a:rPr lang="zh-CN" altLang="en-US" dirty="0"/>
              <a:t>相关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现在设计的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Subjects &amp; Ethogram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可以吗？</a:t>
            </a:r>
            <a:r>
              <a:rPr lang="zh-CN" altLang="en-US" sz="1400" dirty="0">
                <a:solidFill>
                  <a:srgbClr val="FF0000"/>
                </a:solidFill>
              </a:rPr>
              <a:t>开始校准点再思考下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point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还是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</a:t>
            </a:r>
            <a:r>
              <a:rPr lang="en-US" altLang="zh-CN" sz="1400" dirty="0">
                <a:solidFill>
                  <a:srgbClr val="FF0000"/>
                </a:solidFill>
              </a:rPr>
              <a:t>state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如果大部分时间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ego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，部分时间漂移，是不是可以算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一直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还是算多次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？（看的一些视频在场景开始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ego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就一直在看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1400" dirty="0">
                <a:solidFill>
                  <a:srgbClr val="FF0000"/>
                </a:solidFill>
              </a:rPr>
              <a:t>所有看的次数都标出来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软件总崩溃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太过费时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准确性问题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疑问点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84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sz="3000" dirty="0" err="1"/>
              <a:t>谢谢</a:t>
            </a:r>
            <a:endParaRPr lang="de-DE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876312" y="3018631"/>
            <a:ext cx="1391376" cy="410369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B</a:t>
            </a:r>
            <a:r>
              <a:rPr lang="de-DE" sz="3000" dirty="0"/>
              <a:t>ackup</a:t>
            </a:r>
          </a:p>
        </p:txBody>
      </p:sp>
    </p:spTree>
    <p:extLst>
      <p:ext uri="{BB962C8B-B14F-4D97-AF65-F5344CB8AC3E}">
        <p14:creationId xmlns:p14="http://schemas.microsoft.com/office/powerpoint/2010/main" val="1395967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DLC</a:t>
            </a:r>
            <a:r>
              <a:rPr lang="zh-CN" altLang="en-US" dirty="0">
                <a:solidFill>
                  <a:schemeClr val="bg2"/>
                </a:solidFill>
              </a:rPr>
              <a:t>交互窗口确定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0BA3B38-ACAA-4B2F-9D0D-FF8718C2BD3A}"/>
              </a:ext>
            </a:extLst>
          </p:cNvPr>
          <p:cNvSpPr txBox="1">
            <a:spLocks/>
          </p:cNvSpPr>
          <p:nvPr/>
        </p:nvSpPr>
        <p:spPr>
          <a:xfrm>
            <a:off x="318010" y="1151797"/>
            <a:ext cx="8682366" cy="424854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zh-CN" altLang="en-US" dirty="0"/>
              <a:t>重构</a:t>
            </a:r>
            <a:r>
              <a:rPr lang="de-DE" altLang="zh-CN" dirty="0"/>
              <a:t>DLC</a:t>
            </a:r>
            <a:r>
              <a:rPr lang="zh-CN" altLang="de-DE" dirty="0"/>
              <a:t>坐标系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数据现状：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</a:t>
            </a:r>
            <a:r>
              <a:rPr lang="zh-CN" altLang="en-US" sz="1400" dirty="0">
                <a:solidFill>
                  <a:srgbClr val="FF0000"/>
                </a:solidFill>
              </a:rPr>
              <a:t>横向位移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以及</a:t>
            </a:r>
            <a:r>
              <a:rPr lang="en-US" altLang="zh-CN" sz="1400" dirty="0" err="1">
                <a:solidFill>
                  <a:srgbClr val="FF0000"/>
                </a:solidFill>
              </a:rPr>
              <a:t>NodeID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错误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缺失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需重构共享坐标系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方法：基于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Ego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初始轨迹的局部主路投影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结果：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Ego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投影纵向位移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与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累计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Ego.s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相比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，平均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RMSE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0.16m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（按行驶距离中位数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350m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算的话，约为其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0.04%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，差异小）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zh-CN" altLang="en-US" dirty="0"/>
              <a:t>检测 </a:t>
            </a:r>
            <a:r>
              <a:rPr lang="de-DE" altLang="zh-CN" dirty="0" err="1"/>
              <a:t>interaction</a:t>
            </a:r>
            <a:r>
              <a:rPr lang="de-DE" altLang="zh-CN" dirty="0"/>
              <a:t> end 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目的：检测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的变道结束点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挑战：无固定现有规则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方法：确立跨越车道线时刻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t_cross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该时刻后寻找变道结束点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t_end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（需确立稳定点规则）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横向位置（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横向加速度（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有些检测不准：横向位置依赖重构的坐标系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有以较小但持续的横向速度移动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横向速度 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横向加速度（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rgbClr val="FF0000"/>
                </a:solidFill>
              </a:rPr>
              <a:t>0.05</a:t>
            </a:r>
            <a:r>
              <a:rPr lang="zh-CN" altLang="en-US" sz="1400" dirty="0">
                <a:solidFill>
                  <a:srgbClr val="FF0000"/>
                </a:solidFill>
              </a:rPr>
              <a:t>作检查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ok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EC5407-FA8F-EED0-177B-9CFDA38DE580}"/>
              </a:ext>
            </a:extLst>
          </p:cNvPr>
          <p:cNvSpPr txBox="1">
            <a:spLocks/>
          </p:cNvSpPr>
          <p:nvPr/>
        </p:nvSpPr>
        <p:spPr>
          <a:xfrm>
            <a:off x="318010" y="5568550"/>
            <a:ext cx="7642649" cy="65879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总：最终选用的交互数据段开始时刻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Ego.StateLatAndLong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=0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，结束时刻为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变道结束点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7486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DLC</a:t>
            </a:r>
            <a:r>
              <a:rPr lang="zh-CN" altLang="en-US" dirty="0">
                <a:solidFill>
                  <a:schemeClr val="bg2"/>
                </a:solidFill>
              </a:rPr>
              <a:t>交互窗口确定</a:t>
            </a:r>
            <a:endParaRPr lang="de-DE" sz="3000" dirty="0">
              <a:solidFill>
                <a:schemeClr val="bg2"/>
              </a:solidFill>
            </a:endParaRPr>
          </a:p>
        </p:txBody>
      </p:sp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65795A2-9ABC-2E80-D5B3-0774B8AF3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10" y="1473552"/>
            <a:ext cx="4175999" cy="41759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EA1FEBB-92D1-E60F-E6A9-357D51CE1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935" y="1473553"/>
            <a:ext cx="4175998" cy="417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7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99515" y="1357829"/>
            <a:ext cx="8508999" cy="4699572"/>
          </a:xfrm>
        </p:spPr>
        <p:txBody>
          <a:bodyPr/>
          <a:lstStyle/>
          <a:p>
            <a:endParaRPr dirty="0"/>
          </a:p>
          <a:p>
            <a:endParaRPr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r>
              <a:rPr lang="zh-CN" altLang="en-US" dirty="0">
                <a:solidFill>
                  <a:schemeClr val="bg2"/>
                </a:solidFill>
              </a:rPr>
              <a:t>相关</a:t>
            </a:r>
            <a:endParaRPr lang="de-DE" sz="3000" dirty="0">
              <a:solidFill>
                <a:schemeClr val="bg2"/>
              </a:solidFill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EDE3376C-4F51-8569-708D-B552D3FD2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08" y="1735350"/>
            <a:ext cx="4444607" cy="338730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74E9CEAD-F39B-3324-E67E-40A469DD1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609" y="1735350"/>
            <a:ext cx="3403600" cy="2032000"/>
          </a:xfrm>
          <a:prstGeom prst="rect">
            <a:avLst/>
          </a:prstGeom>
        </p:spPr>
      </p:pic>
      <p:sp>
        <p:nvSpPr>
          <p:cNvPr id="6" name="操作按钮: 开始 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1B0DDF3-8960-600C-2AD9-D5A0FF5C1370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5367CD3-AA7F-696B-5F78-8614A66C62BF}"/>
              </a:ext>
            </a:extLst>
          </p:cNvPr>
          <p:cNvSpPr txBox="1">
            <a:spLocks/>
          </p:cNvSpPr>
          <p:nvPr/>
        </p:nvSpPr>
        <p:spPr>
          <a:xfrm>
            <a:off x="318010" y="1151797"/>
            <a:ext cx="6588399" cy="4700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en-US" altLang="zh-CN" dirty="0"/>
              <a:t>Subjects &amp; Ethogram</a:t>
            </a:r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FB6E8B48-55EC-C0EB-E8A4-D58521A3A414}"/>
              </a:ext>
            </a:extLst>
          </p:cNvPr>
          <p:cNvSpPr txBox="1">
            <a:spLocks/>
          </p:cNvSpPr>
          <p:nvPr/>
        </p:nvSpPr>
        <p:spPr>
          <a:xfrm>
            <a:off x="424208" y="5329273"/>
            <a:ext cx="7202964" cy="114403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zh-CN" altLang="en-US" dirty="0"/>
              <a:t>问题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软件总崩溃（目前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无正式版）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视频关键物体太小，看不清，无法精确判断（基准点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点），会有较大误差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714637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160104_TUM_Praesentation_p_v1</Template>
  <TotalTime>17718</TotalTime>
  <Words>609</Words>
  <Application>Microsoft Macintosh PowerPoint</Application>
  <PresentationFormat>全屏显示(4:3)</PresentationFormat>
  <Paragraphs>97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MA 汇报3</vt:lpstr>
      <vt:lpstr>目录</vt:lpstr>
      <vt:lpstr>数据预处理（新增）</vt:lpstr>
      <vt:lpstr>特征提取</vt:lpstr>
      <vt:lpstr>Eye-tracking相关</vt:lpstr>
      <vt:lpstr>疑问点</vt:lpstr>
      <vt:lpstr>谢谢</vt:lpstr>
      <vt:lpstr>Backup</vt:lpstr>
      <vt:lpstr>DLC交互窗口确定</vt:lpstr>
      <vt:lpstr>DLC交互窗口确定</vt:lpstr>
      <vt:lpstr>Eye-tracking相关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huilin fang</dc:creator>
  <cp:lastModifiedBy>huilin fang</cp:lastModifiedBy>
  <cp:revision>28</cp:revision>
  <cp:lastPrinted>2015-07-30T14:04:45Z</cp:lastPrinted>
  <dcterms:created xsi:type="dcterms:W3CDTF">2025-11-09T09:25:35Z</dcterms:created>
  <dcterms:modified xsi:type="dcterms:W3CDTF">2026-07-22T10:01:44Z</dcterms:modified>
</cp:coreProperties>
</file>