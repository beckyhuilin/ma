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6"/>
  </p:notesMasterIdLst>
  <p:handoutMasterIdLst>
    <p:handoutMasterId r:id="rId17"/>
  </p:handoutMasterIdLst>
  <p:sldIdLst>
    <p:sldId id="355" r:id="rId7"/>
    <p:sldId id="357" r:id="rId8"/>
    <p:sldId id="422" r:id="rId9"/>
    <p:sldId id="415" r:id="rId10"/>
    <p:sldId id="399" r:id="rId11"/>
    <p:sldId id="370" r:id="rId12"/>
    <p:sldId id="410" r:id="rId13"/>
    <p:sldId id="419" r:id="rId14"/>
    <p:sldId id="423" r:id="rId15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43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17/08/2026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17/08/2026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en-US" altLang="zh-CN" dirty="0"/>
              <a:t>25</a:t>
            </a:r>
            <a:r>
              <a:rPr lang="de-DE" dirty="0"/>
              <a:t>. August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6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88" y="1978720"/>
            <a:ext cx="8508999" cy="1450280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en-US" altLang="zh-CN" dirty="0"/>
              <a:t>Eye-tracking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2. </a:t>
            </a:r>
            <a:r>
              <a:rPr lang="en-US" altLang="zh-CN" dirty="0"/>
              <a:t>HMM</a:t>
            </a:r>
            <a:r>
              <a:rPr lang="zh-CN" altLang="en-US" dirty="0"/>
              <a:t> </a:t>
            </a:r>
            <a:r>
              <a:rPr lang="en-US" altLang="zh-CN" dirty="0"/>
              <a:t>training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2"/>
                </a:solidFill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318010" y="1139722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endParaRPr lang="de-DE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two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annotators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’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results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differences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</a:p>
          <a:p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number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intervals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; </a:t>
            </a:r>
          </a:p>
          <a:p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duration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intervals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;</a:t>
            </a:r>
            <a:r>
              <a:rPr lang="de-DE" altLang="zh-CN" sz="1600" dirty="0"/>
              <a:t> </a:t>
            </a:r>
          </a:p>
          <a:p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consistency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interval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START and STOP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3028276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 err="1"/>
              <a:t>Drafting</a:t>
            </a:r>
            <a:r>
              <a:rPr lang="de-DE" altLang="zh-CN" dirty="0"/>
              <a:t> </a:t>
            </a:r>
            <a:r>
              <a:rPr lang="de-DE" altLang="zh-CN" dirty="0" err="1"/>
              <a:t>gaze</a:t>
            </a:r>
            <a:r>
              <a:rPr lang="de-DE" altLang="zh-CN" dirty="0"/>
              <a:t> </a:t>
            </a:r>
            <a:r>
              <a:rPr lang="de-DE" altLang="zh-CN" dirty="0" err="1"/>
              <a:t>annotation</a:t>
            </a:r>
            <a:r>
              <a:rPr lang="de-DE" altLang="zh-CN" dirty="0"/>
              <a:t> </a:t>
            </a:r>
            <a:r>
              <a:rPr lang="de-DE" altLang="zh-CN" dirty="0" err="1"/>
              <a:t>protocol</a:t>
            </a:r>
            <a:endParaRPr lang="de-DE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Reviewed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relevant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literature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protocol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de-DE" altLang="zh-CN" sz="1600" dirty="0"/>
              <a:t>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gaze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AOI</a:t>
            </a:r>
          </a:p>
          <a:p>
            <a:pPr>
              <a:lnSpc>
                <a:spcPct val="150000"/>
              </a:lnSpc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b.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interval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-duration review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(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filter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): 100–2000ms ✅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&lt;100ms/&gt;2000ms review?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5069286"/>
            <a:ext cx="8682366" cy="94423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 err="1"/>
              <a:t>Discussion</a:t>
            </a:r>
            <a:r>
              <a:rPr lang="de-DE" altLang="zh-CN" dirty="0"/>
              <a:t> and </a:t>
            </a:r>
            <a:r>
              <a:rPr lang="de-DE" altLang="zh-CN" dirty="0" err="1"/>
              <a:t>remaining</a:t>
            </a:r>
            <a:r>
              <a:rPr lang="de-DE" altLang="zh-CN" dirty="0"/>
              <a:t> </a:t>
            </a:r>
            <a:r>
              <a:rPr lang="de-DE" altLang="zh-CN" dirty="0" err="1"/>
              <a:t>issues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discussed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draft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protocol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collaborator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EDC974-195F-4A39-37D6-23D9D14DAB63}"/>
              </a:ext>
            </a:extLst>
          </p:cNvPr>
          <p:cNvSpPr txBox="1"/>
          <p:nvPr/>
        </p:nvSpPr>
        <p:spPr>
          <a:xfrm>
            <a:off x="2796988" y="6540649"/>
            <a:ext cx="65" cy="2572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endParaRPr kumimoji="1" lang="zh-CN" altLang="en-US" sz="1600" dirty="0" err="1">
              <a:latin typeface="+mn-lt"/>
            </a:endParaRPr>
          </a:p>
        </p:txBody>
      </p:sp>
      <p:sp>
        <p:nvSpPr>
          <p:cNvPr id="2" name="操作按钮: 前进或下一个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D94DA4E-E3F4-4110-765B-F2B665E0CB47}"/>
              </a:ext>
            </a:extLst>
          </p:cNvPr>
          <p:cNvSpPr/>
          <p:nvPr/>
        </p:nvSpPr>
        <p:spPr>
          <a:xfrm>
            <a:off x="3399416" y="2072780"/>
            <a:ext cx="215153" cy="225910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sp>
        <p:nvSpPr>
          <p:cNvPr id="6" name="操作按钮: 前进或下一个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ABECF11-D741-B087-765D-49DC64CD0FD6}"/>
              </a:ext>
            </a:extLst>
          </p:cNvPr>
          <p:cNvSpPr/>
          <p:nvPr/>
        </p:nvSpPr>
        <p:spPr>
          <a:xfrm>
            <a:off x="5692587" y="5541405"/>
            <a:ext cx="215153" cy="225910"/>
          </a:xfrm>
          <a:prstGeom prst="actionButtonForwardNex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031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HMM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training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71334C66-98DF-0938-3F62-A967EC5DA190}"/>
              </a:ext>
            </a:extLst>
          </p:cNvPr>
          <p:cNvSpPr txBox="1">
            <a:spLocks/>
          </p:cNvSpPr>
          <p:nvPr/>
        </p:nvSpPr>
        <p:spPr>
          <a:xfrm>
            <a:off x="318009" y="1053452"/>
            <a:ext cx="8682366" cy="5156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/>
              <a:t>Overall </a:t>
            </a:r>
            <a:r>
              <a:rPr lang="de-DE" altLang="zh-CN" dirty="0" err="1"/>
              <a:t>training</a:t>
            </a:r>
            <a:r>
              <a:rPr lang="de-DE" altLang="zh-CN" dirty="0"/>
              <a:t> plan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501A50D9-DAC7-D626-F25F-B9F5AE7222CD}"/>
              </a:ext>
            </a:extLst>
          </p:cNvPr>
          <p:cNvSpPr txBox="1">
            <a:spLocks/>
          </p:cNvSpPr>
          <p:nvPr/>
        </p:nvSpPr>
        <p:spPr>
          <a:xfrm>
            <a:off x="318008" y="4022358"/>
            <a:ext cx="8507983" cy="178218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sz="1600" dirty="0"/>
              <a:t>Broad</a:t>
            </a:r>
            <a:r>
              <a:rPr lang="zh-CN" altLang="en-US" sz="1600" dirty="0"/>
              <a:t> </a:t>
            </a:r>
            <a:r>
              <a:rPr lang="en-US" altLang="zh-CN" sz="1600" dirty="0"/>
              <a:t>CV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Design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 = 3–20;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n_iter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=1000;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5;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covariance_type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=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diag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(18 N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folds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× 5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450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model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fits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5-fold;</a:t>
            </a:r>
            <a:r>
              <a:rPr lang="de-DE" altLang="zh-CN" sz="1600" dirty="0"/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group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variable: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subject_id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Main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metrics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Generalization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gap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test_LL_per_frame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Training AIC/BIC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Valid /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healthy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restarts…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D5B9BB2D-D490-712A-864A-76CC1DEEDA0D}"/>
              </a:ext>
            </a:extLst>
          </p:cNvPr>
          <p:cNvGrpSpPr/>
          <p:nvPr/>
        </p:nvGrpSpPr>
        <p:grpSpPr>
          <a:xfrm>
            <a:off x="475816" y="1680624"/>
            <a:ext cx="8192367" cy="1400851"/>
            <a:chOff x="220113" y="1832534"/>
            <a:chExt cx="8192367" cy="140085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44D47FF-E28C-04B2-806B-CFB80A3A897E}"/>
                </a:ext>
              </a:extLst>
            </p:cNvPr>
            <p:cNvGrpSpPr/>
            <p:nvPr/>
          </p:nvGrpSpPr>
          <p:grpSpPr>
            <a:xfrm>
              <a:off x="1223618" y="1832534"/>
              <a:ext cx="7188862" cy="525090"/>
              <a:chOff x="1341961" y="2788428"/>
              <a:chExt cx="7620536" cy="525090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BFE4028-797B-C814-FE08-41E446B19C6C}"/>
                  </a:ext>
                </a:extLst>
              </p:cNvPr>
              <p:cNvGrpSpPr/>
              <p:nvPr/>
            </p:nvGrpSpPr>
            <p:grpSpPr>
              <a:xfrm>
                <a:off x="1341961" y="2788428"/>
                <a:ext cx="7620536" cy="525090"/>
                <a:chOff x="1176838" y="3229427"/>
                <a:chExt cx="6636475" cy="525090"/>
              </a:xfrm>
            </p:grpSpPr>
            <p:sp>
              <p:nvSpPr>
                <p:cNvPr id="23" name="圆角矩形 22">
                  <a:extLst>
                    <a:ext uri="{FF2B5EF4-FFF2-40B4-BE49-F238E27FC236}">
                      <a16:creationId xmlns:a16="http://schemas.microsoft.com/office/drawing/2014/main" id="{A4A655CC-E7A0-89B3-EB1C-5A0D7611A05A}"/>
                    </a:ext>
                  </a:extLst>
                </p:cNvPr>
                <p:cNvSpPr/>
                <p:nvPr/>
              </p:nvSpPr>
              <p:spPr>
                <a:xfrm>
                  <a:off x="1176838" y="3240511"/>
                  <a:ext cx="1565360" cy="502921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GMM-HMM</a:t>
                  </a:r>
                  <a:r>
                    <a:rPr kumimoji="1" lang="zh-CN" alt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en-US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modeling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6" name="圆角矩形 25">
                  <a:extLst>
                    <a:ext uri="{FF2B5EF4-FFF2-40B4-BE49-F238E27FC236}">
                      <a16:creationId xmlns:a16="http://schemas.microsoft.com/office/drawing/2014/main" id="{7758FB64-0036-1731-D348-6D73D9ADA80A}"/>
                    </a:ext>
                  </a:extLst>
                </p:cNvPr>
                <p:cNvSpPr/>
                <p:nvPr/>
              </p:nvSpPr>
              <p:spPr>
                <a:xfrm>
                  <a:off x="6042646" y="3229427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lang="de-DE" altLang="zh-CN" sz="1200" b="1" i="0" u="none" strike="noStrike" dirty="0">
                      <a:solidFill>
                        <a:srgbClr val="24292E"/>
                      </a:solidFill>
                      <a:effectLst/>
                      <a:latin typeface="-apple-system"/>
                    </a:rPr>
                    <a:t> 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Interaction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chain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pattern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identification</a:t>
                  </a:r>
                  <a:endPara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7" name="圆角矩形 26">
                  <a:extLst>
                    <a:ext uri="{FF2B5EF4-FFF2-40B4-BE49-F238E27FC236}">
                      <a16:creationId xmlns:a16="http://schemas.microsoft.com/office/drawing/2014/main" id="{775A401B-C10E-D65D-3658-571EAFAD6C50}"/>
                    </a:ext>
                  </a:extLst>
                </p:cNvPr>
                <p:cNvSpPr/>
                <p:nvPr/>
              </p:nvSpPr>
              <p:spPr>
                <a:xfrm>
                  <a:off x="3507089" y="3229428"/>
                  <a:ext cx="1770667" cy="525089"/>
                </a:xfrm>
                <a:prstGeom prst="roundRect">
                  <a:avLst/>
                </a:prstGeom>
                <a:solidFill>
                  <a:schemeClr val="bg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Primitive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extraction</a:t>
                  </a:r>
                  <a:r>
                    <a:rPr kumimoji="1" lang="de-DE" altLang="zh-CN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and </a:t>
                  </a:r>
                  <a:r>
                    <a:rPr kumimoji="1" lang="de-DE" altLang="zh-CN" sz="14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clustering</a:t>
                  </a:r>
                  <a:endParaRPr kumimoji="1"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cxnSp>
            <p:nvCxnSpPr>
              <p:cNvPr id="6" name="直线箭头连接符 5">
                <a:extLst>
                  <a:ext uri="{FF2B5EF4-FFF2-40B4-BE49-F238E27FC236}">
                    <a16:creationId xmlns:a16="http://schemas.microsoft.com/office/drawing/2014/main" id="{BAFAAB2D-8FD1-1608-9CB0-AD67239446F2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>
              <a:xfrm>
                <a:off x="3139434" y="3050973"/>
                <a:ext cx="87830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线箭头连接符 7">
                <a:extLst>
                  <a:ext uri="{FF2B5EF4-FFF2-40B4-BE49-F238E27FC236}">
                    <a16:creationId xmlns:a16="http://schemas.microsoft.com/office/drawing/2014/main" id="{66F4175D-D5BA-138E-D818-B4FF742ED477}"/>
                  </a:ext>
                </a:extLst>
              </p:cNvPr>
              <p:cNvCxnSpPr>
                <a:cxnSpLocks/>
                <a:stCxn id="27" idx="3"/>
                <a:endCxn id="26" idx="1"/>
              </p:cNvCxnSpPr>
              <p:nvPr/>
            </p:nvCxnSpPr>
            <p:spPr>
              <a:xfrm flipV="1">
                <a:off x="6050965" y="3050973"/>
                <a:ext cx="8783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AD314C6A-8139-A02B-E38B-B4C66A08CF03}"/>
                </a:ext>
              </a:extLst>
            </p:cNvPr>
            <p:cNvSpPr/>
            <p:nvPr/>
          </p:nvSpPr>
          <p:spPr>
            <a:xfrm>
              <a:off x="220113" y="2730464"/>
              <a:ext cx="1695653" cy="502921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Pooled</a:t>
              </a:r>
              <a:r>
                <a:rPr kumimoji="1" lang="zh-CN" altLang="en-US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training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9B371ABD-4268-4756-8327-78E81D7014C9}"/>
                </a:ext>
              </a:extLst>
            </p:cNvPr>
            <p:cNvSpPr/>
            <p:nvPr/>
          </p:nvSpPr>
          <p:spPr>
            <a:xfrm>
              <a:off x="2268143" y="2726977"/>
              <a:ext cx="1695653" cy="502921"/>
            </a:xfrm>
            <a:prstGeom prst="round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Subject-level</a:t>
              </a:r>
            </a:p>
            <a:p>
              <a:pPr algn="ctr">
                <a:lnSpc>
                  <a:spcPct val="114000"/>
                </a:lnSpc>
              </a:pPr>
              <a:r>
                <a:rPr kumimoji="1"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Cross-validation</a:t>
              </a:r>
              <a:endPara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5" name="肘形连接符 34">
              <a:extLst>
                <a:ext uri="{FF2B5EF4-FFF2-40B4-BE49-F238E27FC236}">
                  <a16:creationId xmlns:a16="http://schemas.microsoft.com/office/drawing/2014/main" id="{5F1817FD-BA8B-C49B-432E-963DFE62B7D0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1915766" y="2524006"/>
              <a:ext cx="1200204" cy="2029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肘形连接符 40">
              <a:extLst>
                <a:ext uri="{FF2B5EF4-FFF2-40B4-BE49-F238E27FC236}">
                  <a16:creationId xmlns:a16="http://schemas.microsoft.com/office/drawing/2014/main" id="{5C644AF4-EE18-0EFE-DA32-E45C27663C2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rot="10800000" flipV="1">
              <a:off x="1067940" y="2524006"/>
              <a:ext cx="847826" cy="2064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99A3988B-DF8D-9C1E-17FF-53F528504D89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2071444" y="2346539"/>
              <a:ext cx="1" cy="1774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线箭头连接符 57">
              <a:extLst>
                <a:ext uri="{FF2B5EF4-FFF2-40B4-BE49-F238E27FC236}">
                  <a16:creationId xmlns:a16="http://schemas.microsoft.com/office/drawing/2014/main" id="{DF7C4227-5984-B473-C304-84D90C484CB0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1915766" y="2978438"/>
              <a:ext cx="352377" cy="3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005D100B-1C92-81FF-09B7-8E0E587B2DE7}"/>
              </a:ext>
            </a:extLst>
          </p:cNvPr>
          <p:cNvSpPr txBox="1">
            <a:spLocks/>
          </p:cNvSpPr>
          <p:nvPr/>
        </p:nvSpPr>
        <p:spPr>
          <a:xfrm>
            <a:off x="318009" y="5766906"/>
            <a:ext cx="8682366" cy="95648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（</a:t>
            </a:r>
            <a:r>
              <a:rPr lang="de-DE" altLang="zh-CN" dirty="0"/>
              <a:t> </a:t>
            </a:r>
            <a:r>
              <a:rPr lang="de-DE" altLang="zh-CN" sz="1600" dirty="0"/>
              <a:t>Broad</a:t>
            </a:r>
            <a:r>
              <a:rPr lang="zh-CN" altLang="en-US" sz="1600" dirty="0"/>
              <a:t> </a:t>
            </a:r>
            <a:r>
              <a:rPr lang="en-US" altLang="zh-CN" sz="1600" dirty="0"/>
              <a:t>CV 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Evaluation ➡️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Candidate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selection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5772E45-4C9D-7B5D-0739-2240E0E4CEB9}"/>
              </a:ext>
            </a:extLst>
          </p:cNvPr>
          <p:cNvSpPr/>
          <p:nvPr/>
        </p:nvSpPr>
        <p:spPr>
          <a:xfrm>
            <a:off x="1518448" y="3447341"/>
            <a:ext cx="1695653" cy="502921"/>
          </a:xfrm>
          <a:prstGeom prst="round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altLang="zh-CN" sz="1400" dirty="0"/>
              <a:t>Broad</a:t>
            </a:r>
            <a:r>
              <a:rPr lang="zh-CN" altLang="en-US" sz="1400" dirty="0"/>
              <a:t> </a:t>
            </a:r>
            <a:r>
              <a:rPr lang="en-US" altLang="zh-CN" sz="1400" dirty="0"/>
              <a:t>CV</a:t>
            </a:r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B9B3A8D-A87D-DBF9-46F7-C2D9ED7F5174}"/>
              </a:ext>
            </a:extLst>
          </p:cNvPr>
          <p:cNvSpPr/>
          <p:nvPr/>
        </p:nvSpPr>
        <p:spPr>
          <a:xfrm>
            <a:off x="3563758" y="3447341"/>
            <a:ext cx="1695653" cy="50292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kumimoji="1" lang="de-DE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Focused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CV</a:t>
            </a:r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肘形连接符 8">
            <a:extLst>
              <a:ext uri="{FF2B5EF4-FFF2-40B4-BE49-F238E27FC236}">
                <a16:creationId xmlns:a16="http://schemas.microsoft.com/office/drawing/2014/main" id="{6CD880EE-80D8-620E-F886-C7F69D550510}"/>
              </a:ext>
            </a:extLst>
          </p:cNvPr>
          <p:cNvCxnSpPr>
            <a:cxnSpLocks/>
          </p:cNvCxnSpPr>
          <p:nvPr/>
        </p:nvCxnSpPr>
        <p:spPr>
          <a:xfrm>
            <a:off x="3214102" y="3244370"/>
            <a:ext cx="1200204" cy="2029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>
            <a:extLst>
              <a:ext uri="{FF2B5EF4-FFF2-40B4-BE49-F238E27FC236}">
                <a16:creationId xmlns:a16="http://schemas.microsoft.com/office/drawing/2014/main" id="{BCEDE187-6B16-E948-9FA5-BEF9BBEEDF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66276" y="3244370"/>
            <a:ext cx="847826" cy="2064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093933D-8FA1-FB50-5CA8-30D5C1C259EF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3369780" y="3077988"/>
            <a:ext cx="1893" cy="166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05324AC8-8C93-9E79-8A6B-22C8EC428E3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214101" y="3698802"/>
            <a:ext cx="349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8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5911" y="943610"/>
            <a:ext cx="8682366" cy="5715374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dirty="0"/>
              <a:t>Eye-tracking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关于定位点：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开始点用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ego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出雾的时刻是否可以？实验设计的时候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开始点是对应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driving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什么时刻？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先去掉没有</a:t>
            </a:r>
            <a:r>
              <a:rPr lang="en-US" altLang="zh-CN" sz="1400" dirty="0">
                <a:solidFill>
                  <a:srgbClr val="FF0000"/>
                </a:solidFill>
              </a:rPr>
              <a:t>run</a:t>
            </a:r>
            <a:r>
              <a:rPr lang="zh-CN" altLang="en-US" sz="1400" dirty="0">
                <a:solidFill>
                  <a:srgbClr val="FF0000"/>
                </a:solidFill>
              </a:rPr>
              <a:t>开始无法锚定的</a:t>
            </a:r>
            <a:r>
              <a:rPr lang="en-US" altLang="zh-CN" sz="1400" dirty="0">
                <a:solidFill>
                  <a:srgbClr val="FF0000"/>
                </a:solidFill>
              </a:rPr>
              <a:t>condition)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需要关注的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interval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duration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区间是什么，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100-2000ms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是否合理？其它的保留但最终不比较还是全都筛除（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jakob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帧也标了）？再重新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review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范围外的比较费时（考虑到双方）</a:t>
            </a:r>
            <a:r>
              <a:rPr lang="zh-CN" altLang="en-US" sz="1400" dirty="0">
                <a:solidFill>
                  <a:srgbClr val="FF0000"/>
                </a:solidFill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</a:rPr>
              <a:t>&lt;100ms</a:t>
            </a:r>
            <a:r>
              <a:rPr lang="zh-CN" altLang="en-US" sz="1400" dirty="0">
                <a:solidFill>
                  <a:srgbClr val="FF0000"/>
                </a:solidFill>
              </a:rPr>
              <a:t>暂时不作为</a:t>
            </a:r>
            <a:r>
              <a:rPr lang="en-US" altLang="zh-CN" sz="1400" dirty="0" err="1">
                <a:solidFill>
                  <a:srgbClr val="FF0000"/>
                </a:solidFill>
              </a:rPr>
              <a:t>comapare</a:t>
            </a:r>
            <a:r>
              <a:rPr lang="zh-CN" altLang="en-US" sz="1400" dirty="0">
                <a:solidFill>
                  <a:srgbClr val="FF0000"/>
                </a:solidFill>
              </a:rPr>
              <a:t>的重点，</a:t>
            </a:r>
            <a:r>
              <a:rPr lang="en-US" altLang="zh-CN" sz="1400" dirty="0">
                <a:solidFill>
                  <a:srgbClr val="FF0000"/>
                </a:solidFill>
              </a:rPr>
              <a:t>&gt;2s</a:t>
            </a:r>
            <a:r>
              <a:rPr lang="zh-CN" altLang="en-US" sz="1400" dirty="0">
                <a:solidFill>
                  <a:srgbClr val="FF0000"/>
                </a:solidFill>
              </a:rPr>
              <a:t>的也进入比较）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需要关注的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停止时刻是什么，是否只关注到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initiator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车差不多变道完成就行？</a:t>
            </a:r>
            <a:r>
              <a:rPr lang="zh-CN" altLang="en-US" sz="1400" dirty="0">
                <a:solidFill>
                  <a:srgbClr val="FF0000"/>
                </a:solidFill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</a:rPr>
              <a:t>end</a:t>
            </a:r>
            <a:r>
              <a:rPr lang="zh-CN" altLang="en-US" sz="1400" dirty="0">
                <a:solidFill>
                  <a:srgbClr val="FF0000"/>
                </a:solidFill>
              </a:rPr>
              <a:t>变道完成）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校准误差问题：是否默认全都校准正确，若不在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AOI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，那就直接判定无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？（有些虽然在周围但完全没对上）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眼跳问题：在相邻帧快速移动，算一个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还是非常多个？</a:t>
            </a:r>
            <a:r>
              <a:rPr lang="zh-CN" altLang="en-US" sz="1400" dirty="0">
                <a:solidFill>
                  <a:srgbClr val="FF0000"/>
                </a:solidFill>
              </a:rPr>
              <a:t>（以</a:t>
            </a:r>
            <a:r>
              <a:rPr lang="en-US" altLang="zh-CN" sz="1400" dirty="0" err="1">
                <a:solidFill>
                  <a:srgbClr val="FF0000"/>
                </a:solidFill>
              </a:rPr>
              <a:t>jakob</a:t>
            </a:r>
            <a:r>
              <a:rPr lang="zh-CN" altLang="en-US" sz="1400" dirty="0">
                <a:solidFill>
                  <a:srgbClr val="FF0000"/>
                </a:solidFill>
              </a:rPr>
              <a:t>标的为准）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之后同步，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开始同步点：直接用平均值是否可以？</a:t>
            </a:r>
            <a:r>
              <a:rPr lang="zh-CN" altLang="en-US" sz="1400" dirty="0">
                <a:solidFill>
                  <a:srgbClr val="FF0000"/>
                </a:solidFill>
              </a:rPr>
              <a:t>（平均值）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Compare: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原始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eye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标注比较，短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gaze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原则可行吗？</a:t>
            </a:r>
            <a:r>
              <a:rPr lang="zh-CN" altLang="en-US" sz="1400" dirty="0">
                <a:solidFill>
                  <a:srgbClr val="FF0000"/>
                </a:solidFill>
              </a:rPr>
              <a:t>（并集）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" name="操作按钮: 开始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79BD70-2E62-1601-52C6-744BB00492D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678F115-E1F7-A601-6B3E-E20B3F4E3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10" y="1139890"/>
            <a:ext cx="77089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3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31549"/>
            <a:ext cx="7825530" cy="410369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Eye-tracking</a:t>
            </a:r>
            <a:r>
              <a:rPr lang="zh-CN" altLang="en-US" dirty="0">
                <a:solidFill>
                  <a:schemeClr val="bg2"/>
                </a:solidFill>
              </a:rPr>
              <a:t>（</a:t>
            </a:r>
            <a:r>
              <a:rPr lang="en-US" altLang="zh-CN" dirty="0">
                <a:solidFill>
                  <a:schemeClr val="bg2"/>
                </a:solidFill>
              </a:rPr>
              <a:t>raw</a:t>
            </a:r>
            <a:r>
              <a:rPr lang="zh-CN" altLang="en-US" dirty="0">
                <a:solidFill>
                  <a:schemeClr val="bg2"/>
                </a:solidFill>
              </a:rPr>
              <a:t>）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9B3463C-5B93-D7A5-25AB-229E2600140D}"/>
              </a:ext>
            </a:extLst>
          </p:cNvPr>
          <p:cNvSpPr txBox="1">
            <a:spLocks/>
          </p:cNvSpPr>
          <p:nvPr/>
        </p:nvSpPr>
        <p:spPr>
          <a:xfrm>
            <a:off x="230817" y="1139722"/>
            <a:ext cx="8682366" cy="186611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1.</a:t>
            </a:r>
            <a:r>
              <a:rPr lang="zh-CN" altLang="en-US" dirty="0">
                <a:solidFill>
                  <a:schemeClr val="bg2"/>
                </a:solidFill>
                <a:latin typeface="+mj-lt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Drafting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 initial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of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aligning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annotations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driving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target_TimeMS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 and 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matched_TimeMS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first-frame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RunN_Start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Target ASC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= ASC Scenario Start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TimeMS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(Eye-tracking Time -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Scenario_N_Start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Time) × 1000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Missing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Run Start Marker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E14C7963-280E-1AC2-F5AE-2552EB5DA673}"/>
              </a:ext>
            </a:extLst>
          </p:cNvPr>
          <p:cNvSpPr txBox="1">
            <a:spLocks/>
          </p:cNvSpPr>
          <p:nvPr/>
        </p:nvSpPr>
        <p:spPr>
          <a:xfrm>
            <a:off x="318010" y="3126230"/>
            <a:ext cx="8682366" cy="841872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2. </a:t>
            </a:r>
            <a:r>
              <a:rPr lang="de-DE" altLang="zh-CN" dirty="0"/>
              <a:t>Data </a:t>
            </a:r>
            <a:r>
              <a:rPr lang="de-DE" altLang="zh-CN" dirty="0" err="1"/>
              <a:t>synchronization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Completed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for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496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interaction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events</a:t>
            </a:r>
            <a:endParaRPr lang="de-DE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391A4C45-0E37-240E-0780-2E95CC913377}"/>
              </a:ext>
            </a:extLst>
          </p:cNvPr>
          <p:cNvSpPr txBox="1">
            <a:spLocks/>
          </p:cNvSpPr>
          <p:nvPr/>
        </p:nvSpPr>
        <p:spPr>
          <a:xfrm>
            <a:off x="318010" y="4088494"/>
            <a:ext cx="8682366" cy="15984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2"/>
                </a:solidFill>
                <a:latin typeface="+mj-lt"/>
              </a:rPr>
              <a:t>3. </a:t>
            </a:r>
            <a:r>
              <a:rPr lang="de-DE" altLang="zh-CN" dirty="0"/>
              <a:t>Data </a:t>
            </a:r>
            <a:r>
              <a:rPr lang="de-DE" altLang="zh-CN" dirty="0" err="1"/>
              <a:t>sharing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Shared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drafted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my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synchronized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eye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-tracking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dataset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with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the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collaborator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next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step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discuss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synchronization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rules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and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comparison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method</a:t>
            </a:r>
            <a:r>
              <a:rPr lang="de-DE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3539178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37120</TotalTime>
  <Words>602</Words>
  <Application>Microsoft Macintosh PowerPoint</Application>
  <PresentationFormat>全屏显示(4:3)</PresentationFormat>
  <Paragraphs>75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-apple-system</vt:lpstr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MA 汇报6</vt:lpstr>
      <vt:lpstr>Content</vt:lpstr>
      <vt:lpstr>Eye-tracking</vt:lpstr>
      <vt:lpstr>HMM training</vt:lpstr>
      <vt:lpstr>疑问点</vt:lpstr>
      <vt:lpstr>谢谢</vt:lpstr>
      <vt:lpstr>Backup</vt:lpstr>
      <vt:lpstr>Eye-tracking</vt:lpstr>
      <vt:lpstr>Eye-tracking（raw）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51</cp:revision>
  <cp:lastPrinted>2015-07-30T14:04:45Z</cp:lastPrinted>
  <dcterms:created xsi:type="dcterms:W3CDTF">2025-11-09T09:25:35Z</dcterms:created>
  <dcterms:modified xsi:type="dcterms:W3CDTF">2026-08-26T10:22:21Z</dcterms:modified>
</cp:coreProperties>
</file>