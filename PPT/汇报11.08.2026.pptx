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8"/>
  </p:notesMasterIdLst>
  <p:handoutMasterIdLst>
    <p:handoutMasterId r:id="rId19"/>
  </p:handoutMasterIdLst>
  <p:sldIdLst>
    <p:sldId id="355" r:id="rId7"/>
    <p:sldId id="357" r:id="rId8"/>
    <p:sldId id="369" r:id="rId9"/>
    <p:sldId id="397" r:id="rId10"/>
    <p:sldId id="417" r:id="rId11"/>
    <p:sldId id="414" r:id="rId12"/>
    <p:sldId id="415" r:id="rId13"/>
    <p:sldId id="399" r:id="rId14"/>
    <p:sldId id="370" r:id="rId15"/>
    <p:sldId id="410" r:id="rId16"/>
    <p:sldId id="419" r:id="rId17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57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4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10/08/2026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10/08/2026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en-US" altLang="zh-CN" dirty="0"/>
              <a:t>11</a:t>
            </a:r>
            <a:r>
              <a:rPr lang="de-DE" dirty="0"/>
              <a:t>. August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4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978720"/>
            <a:ext cx="8508999" cy="145028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zh-CN" altLang="en-US" dirty="0"/>
              <a:t>特征提取相关</a:t>
            </a:r>
            <a:endParaRPr lang="en-US" altLang="zh-CN" dirty="0"/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HMM</a:t>
            </a:r>
            <a:r>
              <a:rPr lang="zh-CN" altLang="en-US" dirty="0"/>
              <a:t>训练</a:t>
            </a:r>
            <a:endParaRPr lang="en-US" altLang="zh-CN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目录</a:t>
            </a:r>
            <a:endParaRPr lang="de-DE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4440543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de-DE" altLang="zh-CN" dirty="0" err="1">
                <a:solidFill>
                  <a:schemeClr val="bg2"/>
                </a:solidFill>
              </a:rPr>
              <a:t>特征提取</a:t>
            </a:r>
            <a:r>
              <a:rPr lang="zh-CN" altLang="de-DE" dirty="0">
                <a:solidFill>
                  <a:schemeClr val="bg2"/>
                </a:solidFill>
              </a:rPr>
              <a:t>相关</a:t>
            </a:r>
            <a:r>
              <a:rPr lang="zh-CN" altLang="en-US" dirty="0">
                <a:solidFill>
                  <a:schemeClr val="bg2"/>
                </a:solidFill>
              </a:rPr>
              <a:t>（新增）</a:t>
            </a:r>
            <a:endParaRPr lang="de-DE" sz="3000" dirty="0">
              <a:solidFill>
                <a:schemeClr val="bg2"/>
              </a:solidFill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BBA0A3D-764A-0DFF-2CF0-13B0A01D3146}"/>
              </a:ext>
            </a:extLst>
          </p:cNvPr>
          <p:cNvGrpSpPr/>
          <p:nvPr/>
        </p:nvGrpSpPr>
        <p:grpSpPr>
          <a:xfrm>
            <a:off x="335486" y="2069579"/>
            <a:ext cx="5294960" cy="3149564"/>
            <a:chOff x="335486" y="2069579"/>
            <a:chExt cx="5294960" cy="3149564"/>
          </a:xfrm>
        </p:grpSpPr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4FE0774-904F-BE8D-C291-C26EC31946C2}"/>
                </a:ext>
              </a:extLst>
            </p:cNvPr>
            <p:cNvGrpSpPr/>
            <p:nvPr/>
          </p:nvGrpSpPr>
          <p:grpSpPr>
            <a:xfrm>
              <a:off x="335486" y="2069579"/>
              <a:ext cx="3451253" cy="1825573"/>
              <a:chOff x="300331" y="1932419"/>
              <a:chExt cx="3005584" cy="1825573"/>
            </a:xfrm>
          </p:grpSpPr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02508DB8-495A-C1B3-E714-7D81F634BE23}"/>
                  </a:ext>
                </a:extLst>
              </p:cNvPr>
              <p:cNvSpPr/>
              <p:nvPr/>
            </p:nvSpPr>
            <p:spPr>
              <a:xfrm>
                <a:off x="300331" y="3255071"/>
                <a:ext cx="1162050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人工校核</a:t>
                </a:r>
              </a:p>
            </p:txBody>
          </p:sp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95E87DE6-36DB-8D05-31A3-CE19F988D045}"/>
                  </a:ext>
                </a:extLst>
              </p:cNvPr>
              <p:cNvSpPr/>
              <p:nvPr/>
            </p:nvSpPr>
            <p:spPr>
              <a:xfrm>
                <a:off x="1980807" y="1932419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横向抖动事件</a:t>
                </a:r>
              </a:p>
            </p:txBody>
          </p:sp>
          <p:cxnSp>
            <p:nvCxnSpPr>
              <p:cNvPr id="25" name="直线连接符 24">
                <a:extLst>
                  <a:ext uri="{FF2B5EF4-FFF2-40B4-BE49-F238E27FC236}">
                    <a16:creationId xmlns:a16="http://schemas.microsoft.com/office/drawing/2014/main" id="{8FB2D8BC-7A40-2CB1-2BCB-22ADDE8F2A5A}"/>
                  </a:ext>
                </a:extLst>
              </p:cNvPr>
              <p:cNvCxnSpPr>
                <a:cxnSpLocks/>
                <a:stCxn id="9" idx="3"/>
                <a:endCxn id="13" idx="1"/>
              </p:cNvCxnSpPr>
              <p:nvPr/>
            </p:nvCxnSpPr>
            <p:spPr>
              <a:xfrm flipV="1">
                <a:off x="1462381" y="2183879"/>
                <a:ext cx="518426" cy="132265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8CCCA316-C084-BD47-712E-D9E9E1201A7A}"/>
                </a:ext>
              </a:extLst>
            </p:cNvPr>
            <p:cNvCxnSpPr>
              <a:cxnSpLocks/>
              <a:stCxn id="9" idx="3"/>
              <a:endCxn id="15" idx="1"/>
            </p:cNvCxnSpPr>
            <p:nvPr/>
          </p:nvCxnSpPr>
          <p:spPr>
            <a:xfrm>
              <a:off x="1669845" y="3643692"/>
              <a:ext cx="597016" cy="72688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A757FE94-BCA1-D452-DA2B-31348FFBCF14}"/>
                </a:ext>
              </a:extLst>
            </p:cNvPr>
            <p:cNvSpPr/>
            <p:nvPr/>
          </p:nvSpPr>
          <p:spPr>
            <a:xfrm>
              <a:off x="2266861" y="4119113"/>
              <a:ext cx="151987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两车初始间距</a:t>
              </a:r>
              <a:endPara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714C3AE7-5FA2-300F-77D6-118726C7EEFB}"/>
                </a:ext>
              </a:extLst>
            </p:cNvPr>
            <p:cNvCxnSpPr>
              <a:cxnSpLocks/>
              <a:stCxn id="15" idx="3"/>
              <a:endCxn id="59" idx="1"/>
            </p:cNvCxnSpPr>
            <p:nvPr/>
          </p:nvCxnSpPr>
          <p:spPr>
            <a:xfrm flipV="1">
              <a:off x="3786739" y="3985007"/>
              <a:ext cx="509348" cy="38556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0991BC4-A6FC-3C77-BB0B-EE74E4D1C0D2}"/>
                </a:ext>
              </a:extLst>
            </p:cNvPr>
            <p:cNvCxnSpPr>
              <a:cxnSpLocks/>
              <a:stCxn id="15" idx="3"/>
              <a:endCxn id="58" idx="1"/>
            </p:cNvCxnSpPr>
            <p:nvPr/>
          </p:nvCxnSpPr>
          <p:spPr>
            <a:xfrm>
              <a:off x="3786739" y="4370573"/>
              <a:ext cx="509348" cy="59711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8" name="圆角矩形 57">
              <a:extLst>
                <a:ext uri="{FF2B5EF4-FFF2-40B4-BE49-F238E27FC236}">
                  <a16:creationId xmlns:a16="http://schemas.microsoft.com/office/drawing/2014/main" id="{376E14DD-339B-6FB3-E057-F748F9BCCB37}"/>
                </a:ext>
              </a:extLst>
            </p:cNvPr>
            <p:cNvSpPr/>
            <p:nvPr/>
          </p:nvSpPr>
          <p:spPr>
            <a:xfrm>
              <a:off x="4296087" y="4716223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MLC</a:t>
              </a:r>
            </a:p>
          </p:txBody>
        </p:sp>
        <p:sp>
          <p:nvSpPr>
            <p:cNvPr id="59" name="圆角矩形 58">
              <a:extLst>
                <a:ext uri="{FF2B5EF4-FFF2-40B4-BE49-F238E27FC236}">
                  <a16:creationId xmlns:a16="http://schemas.microsoft.com/office/drawing/2014/main" id="{6942EF72-D0B0-11FB-6788-69F4D1689E38}"/>
                </a:ext>
              </a:extLst>
            </p:cNvPr>
            <p:cNvSpPr/>
            <p:nvPr/>
          </p:nvSpPr>
          <p:spPr>
            <a:xfrm>
              <a:off x="4296087" y="3733547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DLC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de-DE" altLang="zh-CN" dirty="0" err="1">
                <a:solidFill>
                  <a:schemeClr val="bg2"/>
                </a:solidFill>
              </a:rPr>
              <a:t>特征提取</a:t>
            </a:r>
            <a:r>
              <a:rPr lang="zh-CN" altLang="de-DE" dirty="0">
                <a:solidFill>
                  <a:schemeClr val="bg2"/>
                </a:solidFill>
              </a:rPr>
              <a:t>相关</a:t>
            </a:r>
            <a:r>
              <a:rPr lang="zh-CN" altLang="en-US" dirty="0">
                <a:solidFill>
                  <a:schemeClr val="bg2"/>
                </a:solidFill>
              </a:rPr>
              <a:t>（新增）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0BA3B38-ACAA-4B2F-9D0D-FF8718C2BD3A}"/>
              </a:ext>
            </a:extLst>
          </p:cNvPr>
          <p:cNvSpPr txBox="1">
            <a:spLocks/>
          </p:cNvSpPr>
          <p:nvPr/>
        </p:nvSpPr>
        <p:spPr>
          <a:xfrm>
            <a:off x="318010" y="1161354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zh-CN" altLang="en-US" dirty="0"/>
              <a:t>横向摆动事件统计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EC5407-FA8F-EED0-177B-9CFDA38DE580}"/>
              </a:ext>
            </a:extLst>
          </p:cNvPr>
          <p:cNvSpPr txBox="1">
            <a:spLocks/>
          </p:cNvSpPr>
          <p:nvPr/>
        </p:nvSpPr>
        <p:spPr>
          <a:xfrm>
            <a:off x="318010" y="3752535"/>
            <a:ext cx="7266131" cy="163704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总结：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、大约在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个事件中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变道时发生横摆，其中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中有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个（但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因为初始距离较远，所以无法从视频中识别是否有抖动）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占大部分，共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共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中，横摆事件大多发生在场景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9F15047-A5CE-93B4-596B-3248AF0FC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576679"/>
              </p:ext>
            </p:extLst>
          </p:nvPr>
        </p:nvGraphicFramePr>
        <p:xfrm>
          <a:off x="423204" y="1676992"/>
          <a:ext cx="4718950" cy="1936894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943790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</a:tblGrid>
              <a:tr h="34950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总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17478">
                <a:tc rowSpan="2"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DLC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31747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1747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MLC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  <a:tr h="31747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368439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总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4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48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de-DE" altLang="zh-CN" dirty="0" err="1">
                <a:solidFill>
                  <a:schemeClr val="bg2"/>
                </a:solidFill>
              </a:rPr>
              <a:t>特征提取</a:t>
            </a:r>
            <a:r>
              <a:rPr lang="zh-CN" altLang="de-DE" dirty="0">
                <a:solidFill>
                  <a:schemeClr val="bg2"/>
                </a:solidFill>
              </a:rPr>
              <a:t>相关</a:t>
            </a:r>
            <a:r>
              <a:rPr lang="zh-CN" altLang="en-US" dirty="0">
                <a:solidFill>
                  <a:schemeClr val="bg2"/>
                </a:solidFill>
              </a:rPr>
              <a:t>（新增）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0BA3B38-ACAA-4B2F-9D0D-FF8718C2BD3A}"/>
              </a:ext>
            </a:extLst>
          </p:cNvPr>
          <p:cNvSpPr txBox="1">
            <a:spLocks/>
          </p:cNvSpPr>
          <p:nvPr/>
        </p:nvSpPr>
        <p:spPr>
          <a:xfrm>
            <a:off x="318010" y="1062527"/>
            <a:ext cx="8653868" cy="117185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 </a:t>
            </a:r>
            <a:r>
              <a:rPr lang="zh-CN" altLang="en-US" dirty="0"/>
              <a:t>两车初始间距（</a:t>
            </a:r>
            <a:r>
              <a:rPr lang="en-US" altLang="zh-CN" dirty="0"/>
              <a:t>m</a:t>
            </a:r>
            <a:r>
              <a:rPr lang="zh-CN" altLang="en-US" dirty="0"/>
              <a:t>）</a:t>
            </a:r>
            <a:endParaRPr lang="de-DE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数据现状：缺少关键数据，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中特征值为坐标重构后计算的值；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有弯道，无关键数据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（计算两车初始纵向距离），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（根据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globalx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计算欧几里得距离）；统计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/>
              </a:rPr>
              <a:t>可视化图</a:t>
            </a:r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EC5407-FA8F-EED0-177B-9CFDA38DE580}"/>
              </a:ext>
            </a:extLst>
          </p:cNvPr>
          <p:cNvSpPr txBox="1">
            <a:spLocks/>
          </p:cNvSpPr>
          <p:nvPr/>
        </p:nvSpPr>
        <p:spPr>
          <a:xfrm>
            <a:off x="318011" y="4158857"/>
            <a:ext cx="4253990" cy="190845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总结：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条件下平均初始纵向距离几乎相同，约为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83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AV2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也几乎相同，约为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76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HV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平均初始纵向距离大于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条件下的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相较于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个体间变异更大；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分布差不多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2CBB4FE-AE26-F81A-B968-15E52667A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442277"/>
              </p:ext>
            </p:extLst>
          </p:nvPr>
        </p:nvGraphicFramePr>
        <p:xfrm>
          <a:off x="393314" y="2234382"/>
          <a:ext cx="3775160" cy="1619416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943790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</a:tblGrid>
              <a:tr h="3495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DLC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HV1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78.16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94.48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83.12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66.07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99.91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82.93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72.41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86.40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75.91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72.46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86.52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75.59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36843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BB99F18-CECB-E4E8-5564-F581D516E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00438"/>
              </p:ext>
            </p:extLst>
          </p:nvPr>
        </p:nvGraphicFramePr>
        <p:xfrm>
          <a:off x="4827501" y="2234382"/>
          <a:ext cx="3775160" cy="1619416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943790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943790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</a:tblGrid>
              <a:tr h="3495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MLC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HV1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67.35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117.76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79.48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67.86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123.37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80.07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64.01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133.39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72.02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AV2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64.15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115.87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70.16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368439"/>
                  </a:ext>
                </a:extLst>
              </a:tr>
            </a:tbl>
          </a:graphicData>
        </a:graphic>
      </p:graphicFrame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0A6E21F8-EA82-F89B-7A03-C97CBE22ABB1}"/>
              </a:ext>
            </a:extLst>
          </p:cNvPr>
          <p:cNvSpPr txBox="1">
            <a:spLocks/>
          </p:cNvSpPr>
          <p:nvPr/>
        </p:nvSpPr>
        <p:spPr>
          <a:xfrm>
            <a:off x="4711849" y="4158857"/>
            <a:ext cx="4393839" cy="190845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总结：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条件下平均初始距离几乎相同，约为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80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AV2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也几乎相同，约为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71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HV</a:t>
            </a: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平均初始距离大于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条件下的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条件下初始距离都分布较广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0857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987338"/>
          </a:xfrm>
        </p:spPr>
        <p:txBody>
          <a:bodyPr/>
          <a:lstStyle/>
          <a:p>
            <a:endParaRPr dirty="0"/>
          </a:p>
          <a:p>
            <a:endParaRPr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r>
              <a:rPr lang="zh-CN" altLang="en-US" dirty="0">
                <a:solidFill>
                  <a:schemeClr val="bg2"/>
                </a:solidFill>
              </a:rPr>
              <a:t>相关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230817" y="1139722"/>
            <a:ext cx="8682366" cy="83836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zh-CN" altLang="en-US" dirty="0"/>
              <a:t>标注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标注完所有事件（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run+scenario+gaze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）。很多视频存在重复实验，部分视频存在内容缺失，有些视频眼动点很飘，无法对准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299515" y="3284359"/>
            <a:ext cx="8682366" cy="109237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zh-CN" altLang="en-US" dirty="0"/>
              <a:t>同步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想法：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开始对应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driving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开始数据点，目标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首帧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眼动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 −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× 1000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开头缺失的数据按照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开始点当作数据同步点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1A4C45-0E37-240E-0780-2E95CC913377}"/>
              </a:ext>
            </a:extLst>
          </p:cNvPr>
          <p:cNvSpPr txBox="1">
            <a:spLocks/>
          </p:cNvSpPr>
          <p:nvPr/>
        </p:nvSpPr>
        <p:spPr>
          <a:xfrm>
            <a:off x="318010" y="4625908"/>
            <a:ext cx="8682366" cy="109237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zh-CN" altLang="en-US" dirty="0"/>
              <a:t>校验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问题：比如一个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标注了很多次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段，两人标注的段数、长度都不一样，怎样算一致，什么标准？以前是怎么规定的？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讨论</a:t>
            </a:r>
            <a:endParaRPr lang="en-US" altLang="zh-CN" sz="1400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9C1D0AC-ACE8-CD84-AA88-B73A88312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073689"/>
              </p:ext>
            </p:extLst>
          </p:nvPr>
        </p:nvGraphicFramePr>
        <p:xfrm>
          <a:off x="318009" y="2343737"/>
          <a:ext cx="5942940" cy="753723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1485735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1485735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1485735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1485735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</a:tblGrid>
              <a:tr h="3495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出现重复run的视频</a:t>
                      </a:r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（翻车</a:t>
                      </a:r>
                      <a:r>
                        <a:rPr lang="en-US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中断）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Scenario不完整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Run开头缺失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de-DE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数量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（共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个视频）</a:t>
                      </a:r>
                      <a:endParaRPr lang="de-DE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5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训练</a:t>
            </a:r>
            <a:endParaRPr lang="de-DE" sz="3000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10" y="1161354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zh-CN" altLang="en-US" dirty="0"/>
              <a:t>整体方案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8010" y="3812186"/>
            <a:ext cx="8682366" cy="282053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altLang="zh-CN" dirty="0"/>
              <a:t>Pooled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部分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209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事件（筛除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lane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错误事件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横摆事件）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关键参数：两车横纵位置坐标，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interaction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de-D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多次尝试，寻找合适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的流程为：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Direction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Normalization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(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统一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Scenario2/3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的横向方向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StandardScaler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训练不同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设置多个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（检查稳定性）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比较不同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的结果（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多次尝试暂定的一些设置参数：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训练范围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3-20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，迭代次数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1e-3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r>
              <a:rPr lang="zh-CN" altLang="en-US" b="0" i="0" u="none" strike="noStrike" dirty="0">
                <a:solidFill>
                  <a:srgbClr val="24292E"/>
                </a:solidFill>
                <a:effectLst/>
                <a:latin typeface="Courier New" panose="02070309020205020404" pitchFamily="49" charset="0"/>
              </a:rPr>
              <a:t>，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n_mix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初步结论：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越大，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结果都倾向于越来越好（和一些论文中会有极值不太相符），但随着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增大，会出现稳定性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碎片化问题。后续需继续调整研究（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N=7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17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D5B9BB2D-D490-712A-864A-76CC1DEEDA0D}"/>
              </a:ext>
            </a:extLst>
          </p:cNvPr>
          <p:cNvGrpSpPr/>
          <p:nvPr/>
        </p:nvGrpSpPr>
        <p:grpSpPr>
          <a:xfrm>
            <a:off x="475816" y="1892935"/>
            <a:ext cx="8192367" cy="1400851"/>
            <a:chOff x="220113" y="1832534"/>
            <a:chExt cx="8192367" cy="1400851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44D47FF-E28C-04B2-806B-CFB80A3A897E}"/>
                </a:ext>
              </a:extLst>
            </p:cNvPr>
            <p:cNvGrpSpPr/>
            <p:nvPr/>
          </p:nvGrpSpPr>
          <p:grpSpPr>
            <a:xfrm>
              <a:off x="1223618" y="1832534"/>
              <a:ext cx="7188862" cy="525090"/>
              <a:chOff x="1341961" y="2788428"/>
              <a:chExt cx="7620536" cy="525090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BFE4028-797B-C814-FE08-41E446B19C6C}"/>
                  </a:ext>
                </a:extLst>
              </p:cNvPr>
              <p:cNvGrpSpPr/>
              <p:nvPr/>
            </p:nvGrpSpPr>
            <p:grpSpPr>
              <a:xfrm>
                <a:off x="1341961" y="2788428"/>
                <a:ext cx="7620536" cy="525090"/>
                <a:chOff x="1176838" y="3229427"/>
                <a:chExt cx="6636475" cy="525090"/>
              </a:xfrm>
            </p:grpSpPr>
            <p:sp>
              <p:nvSpPr>
                <p:cNvPr id="23" name="圆角矩形 22">
                  <a:extLst>
                    <a:ext uri="{FF2B5EF4-FFF2-40B4-BE49-F238E27FC236}">
                      <a16:creationId xmlns:a16="http://schemas.microsoft.com/office/drawing/2014/main" id="{A4A655CC-E7A0-89B3-EB1C-5A0D7611A05A}"/>
                    </a:ext>
                  </a:extLst>
                </p:cNvPr>
                <p:cNvSpPr/>
                <p:nvPr/>
              </p:nvSpPr>
              <p:spPr>
                <a:xfrm>
                  <a:off x="1176838" y="3240511"/>
                  <a:ext cx="1565360" cy="502921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GMM-HMM</a:t>
                  </a:r>
                  <a:r>
                    <a: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modeling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6" name="圆角矩形 25">
                  <a:extLst>
                    <a:ext uri="{FF2B5EF4-FFF2-40B4-BE49-F238E27FC236}">
                      <a16:creationId xmlns:a16="http://schemas.microsoft.com/office/drawing/2014/main" id="{7758FB64-0036-1731-D348-6D73D9ADA80A}"/>
                    </a:ext>
                  </a:extLst>
                </p:cNvPr>
                <p:cNvSpPr/>
                <p:nvPr/>
              </p:nvSpPr>
              <p:spPr>
                <a:xfrm>
                  <a:off x="6042646" y="3229427"/>
                  <a:ext cx="1770667" cy="525089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lang="de-DE" altLang="zh-CN" sz="1200" b="1" i="0" u="none" strike="noStrike" dirty="0">
                      <a:solidFill>
                        <a:srgbClr val="24292E"/>
                      </a:solidFill>
                      <a:effectLst/>
                      <a:latin typeface="-apple-system"/>
                    </a:rPr>
                    <a:t> 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Interaction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chain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and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pattern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identification</a:t>
                  </a:r>
                  <a:endPara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7" name="圆角矩形 26">
                  <a:extLst>
                    <a:ext uri="{FF2B5EF4-FFF2-40B4-BE49-F238E27FC236}">
                      <a16:creationId xmlns:a16="http://schemas.microsoft.com/office/drawing/2014/main" id="{775A401B-C10E-D65D-3658-571EAFAD6C50}"/>
                    </a:ext>
                  </a:extLst>
                </p:cNvPr>
                <p:cNvSpPr/>
                <p:nvPr/>
              </p:nvSpPr>
              <p:spPr>
                <a:xfrm>
                  <a:off x="3507089" y="3229428"/>
                  <a:ext cx="1770667" cy="525089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Primitive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extraction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and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clustering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cxnSp>
            <p:nvCxnSpPr>
              <p:cNvPr id="6" name="直线箭头连接符 5">
                <a:extLst>
                  <a:ext uri="{FF2B5EF4-FFF2-40B4-BE49-F238E27FC236}">
                    <a16:creationId xmlns:a16="http://schemas.microsoft.com/office/drawing/2014/main" id="{BAFAAB2D-8FD1-1608-9CB0-AD67239446F2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>
              <a:xfrm>
                <a:off x="3139434" y="3050973"/>
                <a:ext cx="87830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箭头连接符 7">
                <a:extLst>
                  <a:ext uri="{FF2B5EF4-FFF2-40B4-BE49-F238E27FC236}">
                    <a16:creationId xmlns:a16="http://schemas.microsoft.com/office/drawing/2014/main" id="{66F4175D-D5BA-138E-D818-B4FF742ED477}"/>
                  </a:ext>
                </a:extLst>
              </p:cNvPr>
              <p:cNvCxnSpPr>
                <a:cxnSpLocks/>
                <a:stCxn id="27" idx="3"/>
                <a:endCxn id="26" idx="1"/>
              </p:cNvCxnSpPr>
              <p:nvPr/>
            </p:nvCxnSpPr>
            <p:spPr>
              <a:xfrm flipV="1">
                <a:off x="6050965" y="3050973"/>
                <a:ext cx="8783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圆角矩形 31">
              <a:extLst>
                <a:ext uri="{FF2B5EF4-FFF2-40B4-BE49-F238E27FC236}">
                  <a16:creationId xmlns:a16="http://schemas.microsoft.com/office/drawing/2014/main" id="{AD314C6A-8139-A02B-E38B-B4C66A08CF03}"/>
                </a:ext>
              </a:extLst>
            </p:cNvPr>
            <p:cNvSpPr/>
            <p:nvPr/>
          </p:nvSpPr>
          <p:spPr>
            <a:xfrm>
              <a:off x="220113" y="2730464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Pooled</a:t>
              </a:r>
              <a:r>
                <a:rPr kumimoji="1"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training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9B371ABD-4268-4756-8327-78E81D7014C9}"/>
                </a:ext>
              </a:extLst>
            </p:cNvPr>
            <p:cNvSpPr/>
            <p:nvPr/>
          </p:nvSpPr>
          <p:spPr>
            <a:xfrm>
              <a:off x="2268143" y="2726977"/>
              <a:ext cx="1695653" cy="50292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Subject-level</a:t>
              </a:r>
            </a:p>
            <a:p>
              <a:pPr algn="ctr"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Cross-validation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35" name="肘形连接符 34">
              <a:extLst>
                <a:ext uri="{FF2B5EF4-FFF2-40B4-BE49-F238E27FC236}">
                  <a16:creationId xmlns:a16="http://schemas.microsoft.com/office/drawing/2014/main" id="{5F1817FD-BA8B-C49B-432E-963DFE62B7D0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1915766" y="2524006"/>
              <a:ext cx="1200204" cy="2029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肘形连接符 40">
              <a:extLst>
                <a:ext uri="{FF2B5EF4-FFF2-40B4-BE49-F238E27FC236}">
                  <a16:creationId xmlns:a16="http://schemas.microsoft.com/office/drawing/2014/main" id="{5C644AF4-EE18-0EFE-DA32-E45C27663C2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 rot="10800000" flipV="1">
              <a:off x="1067940" y="2524006"/>
              <a:ext cx="847826" cy="2064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9A3988B-DF8D-9C1E-17FF-53F528504D89}"/>
                </a:ext>
              </a:extLst>
            </p:cNvPr>
            <p:cNvCxnSpPr>
              <a:stCxn id="23" idx="2"/>
            </p:cNvCxnSpPr>
            <p:nvPr/>
          </p:nvCxnSpPr>
          <p:spPr>
            <a:xfrm flipH="1">
              <a:off x="2071444" y="2346539"/>
              <a:ext cx="1" cy="1774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DF7C4227-5984-B473-C304-84D90C484CB0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1915766" y="2978438"/>
              <a:ext cx="352377" cy="3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268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1" y="943610"/>
            <a:ext cx="8682366" cy="5715374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 </a:t>
            </a:r>
            <a:r>
              <a:rPr lang="zh-CN" altLang="en-US" dirty="0"/>
              <a:t>两车初始间距</a:t>
            </a:r>
            <a:r>
              <a:rPr lang="zh-CN" altLang="de-DE" dirty="0"/>
              <a:t>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场景为例，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场景下两车初始间距有较大差异，如果后续这两类情况下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hidden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有差异将无法直接解释为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condition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的行为反应不同？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初始交互点之后在三方实验最好设计成间距一致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控制变量？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HMM</a:t>
            </a:r>
            <a:r>
              <a:rPr lang="zh-CN" altLang="en-US" dirty="0"/>
              <a:t>训练有关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目前先将有横摆现象的数据筛出进行训练？（不是正常交互，会影响结果）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下一步交叉训练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N=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3-20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  <a:r>
              <a:rPr lang="zh-CN" altLang="en-US" dirty="0"/>
              <a:t>相关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很多场景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无法根据视频判断视线点（太远）</a:t>
            </a:r>
            <a:r>
              <a:rPr lang="zh-CN" altLang="en-US" sz="1400" dirty="0">
                <a:solidFill>
                  <a:srgbClr val="FF0000"/>
                </a:solidFill>
              </a:rPr>
              <a:t>可保留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如何制定两人校核的标准？ </a:t>
            </a:r>
            <a:r>
              <a:rPr lang="zh-CN" altLang="en-US" sz="1400" dirty="0">
                <a:solidFill>
                  <a:srgbClr val="FF0000"/>
                </a:solidFill>
              </a:rPr>
              <a:t>自己商讨，写下标准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有些视频中经常翻车，会不会影响实验数据的真实性（受试者已经熟悉路况）？</a:t>
            </a:r>
            <a:r>
              <a:rPr lang="zh-CN" altLang="en-US" sz="1400" dirty="0">
                <a:solidFill>
                  <a:srgbClr val="FF0000"/>
                </a:solidFill>
              </a:rPr>
              <a:t>不考虑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4.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zh-CN" altLang="en-US" sz="1400" dirty="0"/>
              <a:t>实验设计相关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现在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都是按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固定顺序，受试者进行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次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，每次都顺序一样，那就可能导致已经熟悉场景，惯性思维</a:t>
            </a:r>
            <a:r>
              <a:rPr lang="zh-CN" altLang="en-US" sz="1400" dirty="0">
                <a:solidFill>
                  <a:srgbClr val="FF0000"/>
                </a:solidFill>
              </a:rPr>
              <a:t>暂时不考虑</a:t>
            </a:r>
            <a:endParaRPr lang="en-US" altLang="zh-CN" sz="1400" dirty="0">
              <a:solidFill>
                <a:srgbClr val="FF0000"/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de-DE" altLang="zh-CN" dirty="0" err="1">
                <a:solidFill>
                  <a:schemeClr val="bg2"/>
                </a:solidFill>
              </a:rPr>
              <a:t>特征提取</a:t>
            </a:r>
            <a:r>
              <a:rPr lang="zh-CN" altLang="de-DE" dirty="0">
                <a:solidFill>
                  <a:schemeClr val="bg2"/>
                </a:solidFill>
              </a:rPr>
              <a:t>相关</a:t>
            </a:r>
            <a:r>
              <a:rPr lang="zh-CN" altLang="en-US" dirty="0">
                <a:solidFill>
                  <a:schemeClr val="bg2"/>
                </a:solidFill>
              </a:rPr>
              <a:t>（新增）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pic>
        <p:nvPicPr>
          <p:cNvPr id="1026" name="Picture 2" descr="User attachment">
            <a:extLst>
              <a:ext uri="{FF2B5EF4-FFF2-40B4-BE49-F238E27FC236}">
                <a16:creationId xmlns:a16="http://schemas.microsoft.com/office/drawing/2014/main" id="{558EE92C-5BEF-616D-6025-47B0AF0D1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72" y="3282641"/>
            <a:ext cx="4253990" cy="272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9C4E16A-3EFD-B5BD-DD46-18651212A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019" y="3256434"/>
            <a:ext cx="4253989" cy="2752800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6124C59-6982-4DC1-3C23-1BE3B294F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174981"/>
              </p:ext>
            </p:extLst>
          </p:nvPr>
        </p:nvGraphicFramePr>
        <p:xfrm>
          <a:off x="316991" y="1253093"/>
          <a:ext cx="8444753" cy="1591676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1580533">
                  <a:extLst>
                    <a:ext uri="{9D8B030D-6E8A-4147-A177-3AD203B41FA5}">
                      <a16:colId xmlns:a16="http://schemas.microsoft.com/office/drawing/2014/main" val="3624911656"/>
                    </a:ext>
                  </a:extLst>
                </a:gridCol>
                <a:gridCol w="1716055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1716055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1716055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1716055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</a:tblGrid>
              <a:tr h="3495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altLang="zh-CN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17478">
                <a:tc rowSpan="2"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DLC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72.41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99.91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78.90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317478">
                <a:tc vMerge="1"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66.07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89.23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79.88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17478">
                <a:tc rowSpan="2"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MLC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64.01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133.39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72.80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  <a:tr h="289738">
                <a:tc vMerge="1"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67.75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88.52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auto" latinLnBrk="0" hangingPunct="1"/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78.06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368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237791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24654</TotalTime>
  <Words>981</Words>
  <Application>Microsoft Macintosh PowerPoint</Application>
  <PresentationFormat>全屏显示(4:3)</PresentationFormat>
  <Paragraphs>187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-apple-system</vt:lpstr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MA 汇报4</vt:lpstr>
      <vt:lpstr>目录</vt:lpstr>
      <vt:lpstr>特征提取相关（新增）</vt:lpstr>
      <vt:lpstr>特征提取相关（新增）</vt:lpstr>
      <vt:lpstr>特征提取相关（新增）</vt:lpstr>
      <vt:lpstr>Eye-tracking相关</vt:lpstr>
      <vt:lpstr>HMM训练</vt:lpstr>
      <vt:lpstr>疑问点</vt:lpstr>
      <vt:lpstr>谢谢</vt:lpstr>
      <vt:lpstr>Backup</vt:lpstr>
      <vt:lpstr>特征提取相关（新增）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34</cp:revision>
  <cp:lastPrinted>2015-07-30T14:04:45Z</cp:lastPrinted>
  <dcterms:created xsi:type="dcterms:W3CDTF">2025-11-09T09:25:35Z</dcterms:created>
  <dcterms:modified xsi:type="dcterms:W3CDTF">2026-08-15T13:57:01Z</dcterms:modified>
</cp:coreProperties>
</file>